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0"/>
  </p:notesMasterIdLst>
  <p:sldIdLst>
    <p:sldId id="730" r:id="rId2"/>
    <p:sldId id="256" r:id="rId3"/>
    <p:sldId id="308" r:id="rId4"/>
    <p:sldId id="265" r:id="rId5"/>
    <p:sldId id="309" r:id="rId6"/>
    <p:sldId id="656" r:id="rId7"/>
    <p:sldId id="693" r:id="rId8"/>
    <p:sldId id="691" r:id="rId9"/>
    <p:sldId id="689" r:id="rId10"/>
    <p:sldId id="692" r:id="rId11"/>
    <p:sldId id="723" r:id="rId12"/>
    <p:sldId id="688" r:id="rId13"/>
    <p:sldId id="717" r:id="rId14"/>
    <p:sldId id="716" r:id="rId15"/>
    <p:sldId id="684" r:id="rId16"/>
    <p:sldId id="685" r:id="rId17"/>
    <p:sldId id="686" r:id="rId18"/>
    <p:sldId id="718" r:id="rId19"/>
    <p:sldId id="615" r:id="rId20"/>
    <p:sldId id="721" r:id="rId21"/>
    <p:sldId id="724" r:id="rId22"/>
    <p:sldId id="725" r:id="rId23"/>
    <p:sldId id="727" r:id="rId24"/>
    <p:sldId id="728" r:id="rId25"/>
    <p:sldId id="729" r:id="rId26"/>
    <p:sldId id="722" r:id="rId27"/>
    <p:sldId id="301" r:id="rId28"/>
    <p:sldId id="30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4996B-F6C8-4A2D-ABDB-BB70B98BEB7A}" v="103" dt="2019-11-13T11:13:37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65955" autoAdjust="0"/>
  </p:normalViewPr>
  <p:slideViewPr>
    <p:cSldViewPr snapToGrid="0">
      <p:cViewPr>
        <p:scale>
          <a:sx n="50" d="100"/>
          <a:sy n="50" d="100"/>
        </p:scale>
        <p:origin x="49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C9BAC-5605-4961-A752-FD19D2B395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8DEC1-F2AB-4DD2-8E1F-AE80EFAA4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87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batools.io/dedicated-server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3A889-5ADE-CA61-590B-09FB9BC85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53AFE-01DF-0B13-378D-F92E38263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C0FBA-078F-2078-C909-B6BAE9240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BB64A-DC9D-2482-2A17-0CF684307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31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37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Li instructor?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88DEC1-F2AB-4DD2-8E1F-AE80EFAA40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47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Backups are useless if they can’t be restored</a:t>
            </a:r>
          </a:p>
          <a:p>
            <a:r>
              <a:rPr lang="en-US">
                <a:hlinkClick r:id="rId3"/>
              </a:rPr>
              <a:t>https://dbatools.io/dedicated-server/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Who’s already using GitHub Actions?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1735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714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Point out schedule runs</a:t>
            </a:r>
          </a:p>
          <a:p>
            <a:r>
              <a:rPr lang="en-GB"/>
              <a:t>Manually triggered runs</a:t>
            </a:r>
          </a:p>
          <a:p>
            <a:r>
              <a:rPr lang="en-GB"/>
              <a:t>One that was cancelled</a:t>
            </a:r>
          </a:p>
        </p:txBody>
      </p:sp>
    </p:spTree>
    <p:extLst>
      <p:ext uri="{BB962C8B-B14F-4D97-AF65-F5344CB8AC3E}">
        <p14:creationId xmlns:p14="http://schemas.microsoft.com/office/powerpoint/2010/main" val="837638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1442</a:t>
            </a:r>
          </a:p>
        </p:txBody>
      </p:sp>
    </p:spTree>
    <p:extLst>
      <p:ext uri="{BB962C8B-B14F-4D97-AF65-F5344CB8AC3E}">
        <p14:creationId xmlns:p14="http://schemas.microsoft.com/office/powerpoint/2010/main" val="2161208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1453</a:t>
            </a:r>
          </a:p>
        </p:txBody>
      </p:sp>
    </p:spTree>
    <p:extLst>
      <p:ext uri="{BB962C8B-B14F-4D97-AF65-F5344CB8AC3E}">
        <p14:creationId xmlns:p14="http://schemas.microsoft.com/office/powerpoint/2010/main" val="3122969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78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Right click database &gt; tasks &gt; backup</a:t>
            </a:r>
          </a:p>
        </p:txBody>
      </p:sp>
    </p:spTree>
    <p:extLst>
      <p:ext uri="{BB962C8B-B14F-4D97-AF65-F5344CB8AC3E}">
        <p14:creationId xmlns:p14="http://schemas.microsoft.com/office/powerpoint/2010/main" val="3520927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699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D628B-E01A-99FE-C3C4-F7752EA8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B5B71-CA86-3211-7655-5C975541E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335EF-C905-3FA0-A275-7E2561A9F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707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6D6275-D5B4-459A-B2A3-212CA60D230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786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1458</a:t>
            </a:r>
          </a:p>
        </p:txBody>
      </p:sp>
    </p:spTree>
    <p:extLst>
      <p:ext uri="{BB962C8B-B14F-4D97-AF65-F5344CB8AC3E}">
        <p14:creationId xmlns:p14="http://schemas.microsoft.com/office/powerpoint/2010/main" val="3886949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1510</a:t>
            </a:r>
          </a:p>
        </p:txBody>
      </p:sp>
    </p:spTree>
    <p:extLst>
      <p:ext uri="{BB962C8B-B14F-4D97-AF65-F5344CB8AC3E}">
        <p14:creationId xmlns:p14="http://schemas.microsoft.com/office/powerpoint/2010/main" val="2364934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GitHub Hosted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usage is free for standard GitHub-hosted runners in public repositories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Series of types you can choose – windows,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different versions</a:t>
            </a:r>
            <a:endParaRPr lang="en-GB" dirty="0"/>
          </a:p>
          <a:p>
            <a:endParaRPr lang="en-GB" dirty="0"/>
          </a:p>
          <a:p>
            <a:r>
              <a:rPr lang="en-GB" dirty="0"/>
              <a:t>Self-hosted</a:t>
            </a:r>
          </a:p>
          <a:p>
            <a:pPr marL="171450" indent="-171450">
              <a:buFontTx/>
              <a:buChar char="-"/>
            </a:pPr>
            <a:r>
              <a:rPr lang="en-GB" dirty="0"/>
              <a:t>More control</a:t>
            </a:r>
          </a:p>
          <a:p>
            <a:pPr marL="171450" indent="-171450">
              <a:buFontTx/>
              <a:buChar char="-"/>
            </a:pPr>
            <a:r>
              <a:rPr lang="en-GB" dirty="0"/>
              <a:t>Free to use</a:t>
            </a:r>
          </a:p>
          <a:p>
            <a:pPr marL="171450" indent="-171450">
              <a:buFontTx/>
              <a:buChar char="-"/>
            </a:pPr>
            <a:r>
              <a:rPr lang="en-GB" dirty="0"/>
              <a:t>Inside your network so access to things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 marL="0" indent="0">
              <a:buFontTx/>
              <a:buNone/>
            </a:pPr>
            <a:endParaRPr lang="en-GB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Note – if you swap your repo to be public you need to change a setting that allows your self-hosted runner to run – otherwise it sits there waiting for jobs, and your actions sit there waiting for runners</a:t>
            </a:r>
          </a:p>
          <a:p>
            <a:pPr marL="171450" indent="-1714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4897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9637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1512</a:t>
            </a:r>
          </a:p>
        </p:txBody>
      </p:sp>
    </p:spTree>
    <p:extLst>
      <p:ext uri="{BB962C8B-B14F-4D97-AF65-F5344CB8AC3E}">
        <p14:creationId xmlns:p14="http://schemas.microsoft.com/office/powerpoint/2010/main" val="2176930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10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36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902B49-72A0-4C63-9A61-7914659C9CBD}"/>
              </a:ext>
            </a:extLst>
          </p:cNvPr>
          <p:cNvSpPr/>
          <p:nvPr userDrawn="1"/>
        </p:nvSpPr>
        <p:spPr>
          <a:xfrm>
            <a:off x="0" y="1"/>
            <a:ext cx="12192000" cy="44775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98" y="148324"/>
            <a:ext cx="11266004" cy="2387600"/>
          </a:xfrm>
        </p:spPr>
        <p:txBody>
          <a:bodyPr anchor="b">
            <a:normAutofit/>
          </a:bodyPr>
          <a:lstStyle>
            <a:lvl1pPr algn="ctr">
              <a:defRPr sz="7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98" y="2627999"/>
            <a:ext cx="11266004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E4732-EC9F-4EF0-9FFA-B4FE35EF00D0}"/>
              </a:ext>
            </a:extLst>
          </p:cNvPr>
          <p:cNvSpPr/>
          <p:nvPr userDrawn="1"/>
        </p:nvSpPr>
        <p:spPr>
          <a:xfrm>
            <a:off x="0" y="4569653"/>
            <a:ext cx="12192000" cy="10492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0B37F-AD62-4FD2-866A-996870575303}"/>
              </a:ext>
            </a:extLst>
          </p:cNvPr>
          <p:cNvSpPr txBox="1"/>
          <p:nvPr userDrawn="1"/>
        </p:nvSpPr>
        <p:spPr>
          <a:xfrm>
            <a:off x="8567530" y="4678788"/>
            <a:ext cx="3419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>
                <a:solidFill>
                  <a:schemeClr val="tx1"/>
                </a:solidFill>
                <a:latin typeface="+mj-lt"/>
              </a:rPr>
              <a:t>Jess Pomfret</a:t>
            </a:r>
            <a:endParaRPr lang="en-US" sz="3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63E45-9DC8-452D-9B3A-FC5B719D5CC6}"/>
              </a:ext>
            </a:extLst>
          </p:cNvPr>
          <p:cNvSpPr txBox="1"/>
          <p:nvPr userDrawn="1"/>
        </p:nvSpPr>
        <p:spPr>
          <a:xfrm>
            <a:off x="8077200" y="5710996"/>
            <a:ext cx="3909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latin typeface="+mj-lt"/>
              </a:rPr>
              <a:t>jesspomfret.com</a:t>
            </a:r>
          </a:p>
          <a:p>
            <a:pPr algn="r"/>
            <a:r>
              <a:rPr lang="en-US" sz="3200" dirty="0">
                <a:latin typeface="+mj-lt"/>
              </a:rPr>
              <a:t>jpomfret7@gmail.com</a:t>
            </a:r>
          </a:p>
        </p:txBody>
      </p:sp>
    </p:spTree>
    <p:extLst>
      <p:ext uri="{BB962C8B-B14F-4D97-AF65-F5344CB8AC3E}">
        <p14:creationId xmlns:p14="http://schemas.microsoft.com/office/powerpoint/2010/main" val="23722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041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752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544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084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158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132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35" y="1003852"/>
            <a:ext cx="11598965" cy="5173111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161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53548"/>
            <a:ext cx="5181600" cy="5123415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53548"/>
            <a:ext cx="5181600" cy="5123415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220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90094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764196"/>
            <a:ext cx="5157787" cy="4425467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90094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64196"/>
            <a:ext cx="5183188" cy="4425467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DAA8C14-E0FE-4A97-BB51-67138CFB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86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426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1681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090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AB3BF9-B483-4A5B-88B0-E6D4DB9A0D0D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A59B1-0385-485D-A8E8-F9AEDADE7628}"/>
              </a:ext>
            </a:extLst>
          </p:cNvPr>
          <p:cNvSpPr txBox="1"/>
          <p:nvPr userDrawn="1"/>
        </p:nvSpPr>
        <p:spPr>
          <a:xfrm>
            <a:off x="220223" y="6365741"/>
            <a:ext cx="142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@</a:t>
            </a:r>
            <a:r>
              <a:rPr lang="en-US" err="1">
                <a:solidFill>
                  <a:schemeClr val="bg2"/>
                </a:solidFill>
              </a:rPr>
              <a:t>jpomfret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F2C48-004D-4652-B4A5-A2D984F39C8A}"/>
              </a:ext>
            </a:extLst>
          </p:cNvPr>
          <p:cNvSpPr txBox="1"/>
          <p:nvPr userDrawn="1"/>
        </p:nvSpPr>
        <p:spPr>
          <a:xfrm>
            <a:off x="5163246" y="6373769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98F6E-254A-43F3-87CE-2FD2EBB714AC}"/>
              </a:ext>
            </a:extLst>
          </p:cNvPr>
          <p:cNvSpPr txBox="1"/>
          <p:nvPr userDrawn="1"/>
        </p:nvSpPr>
        <p:spPr>
          <a:xfrm>
            <a:off x="8794517" y="6386087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</p:spTree>
    <p:extLst>
      <p:ext uri="{BB962C8B-B14F-4D97-AF65-F5344CB8AC3E}">
        <p14:creationId xmlns:p14="http://schemas.microsoft.com/office/powerpoint/2010/main" val="1912084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B1A997-9791-4156-97DF-C8099900C89F}"/>
              </a:ext>
            </a:extLst>
          </p:cNvPr>
          <p:cNvSpPr/>
          <p:nvPr userDrawn="1"/>
        </p:nvSpPr>
        <p:spPr>
          <a:xfrm>
            <a:off x="1" y="-3"/>
            <a:ext cx="5054048" cy="6793393"/>
          </a:xfrm>
          <a:prstGeom prst="rect">
            <a:avLst/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52" y="198783"/>
            <a:ext cx="4453973" cy="140638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8783"/>
            <a:ext cx="6690760" cy="5662267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8052" y="1791200"/>
            <a:ext cx="4453973" cy="40777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2329C1-CAB7-4D96-94DE-EFD94A0A79DF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4D2D5C-A92B-428B-9CE0-B4990F4EEF7A}"/>
              </a:ext>
            </a:extLst>
          </p:cNvPr>
          <p:cNvSpPr txBox="1"/>
          <p:nvPr userDrawn="1"/>
        </p:nvSpPr>
        <p:spPr>
          <a:xfrm>
            <a:off x="5163246" y="6373769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B5F8A-0B4E-403E-917E-65006E719095}"/>
              </a:ext>
            </a:extLst>
          </p:cNvPr>
          <p:cNvSpPr txBox="1"/>
          <p:nvPr userDrawn="1"/>
        </p:nvSpPr>
        <p:spPr>
          <a:xfrm>
            <a:off x="8794517" y="6386087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BDBD6F-0498-49D4-A54B-7410CFDC78EC}"/>
              </a:ext>
            </a:extLst>
          </p:cNvPr>
          <p:cNvCxnSpPr>
            <a:cxnSpLocks/>
          </p:cNvCxnSpPr>
          <p:nvPr userDrawn="1"/>
        </p:nvCxnSpPr>
        <p:spPr>
          <a:xfrm>
            <a:off x="-4788" y="1663485"/>
            <a:ext cx="505883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3BFCB91-8416-556C-B23B-F46456D8E0FE}"/>
              </a:ext>
            </a:extLst>
          </p:cNvPr>
          <p:cNvSpPr txBox="1"/>
          <p:nvPr userDrawn="1"/>
        </p:nvSpPr>
        <p:spPr>
          <a:xfrm>
            <a:off x="517229" y="6378792"/>
            <a:ext cx="21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jpomfret.co.uk</a:t>
            </a:r>
          </a:p>
        </p:txBody>
      </p:sp>
      <p:pic>
        <p:nvPicPr>
          <p:cNvPr id="6" name="Picture 4" descr="A simplified silhouette of a butterfly, with two symmetric pairs of wings, colored with a sky-blue gradient">
            <a:extLst>
              <a:ext uri="{FF2B5EF4-FFF2-40B4-BE49-F238E27FC236}">
                <a16:creationId xmlns:a16="http://schemas.microsoft.com/office/drawing/2014/main" id="{652A2660-B553-C5F8-FFED-41C95213BA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8" y="6454672"/>
            <a:ext cx="304801" cy="2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670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6151D4-DB60-411B-A528-50BAE53F57B2}"/>
              </a:ext>
            </a:extLst>
          </p:cNvPr>
          <p:cNvSpPr/>
          <p:nvPr userDrawn="1"/>
        </p:nvSpPr>
        <p:spPr>
          <a:xfrm>
            <a:off x="1" y="-3"/>
            <a:ext cx="5054048" cy="6793393"/>
          </a:xfrm>
          <a:prstGeom prst="rect">
            <a:avLst/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60309D-55BA-4D22-AAD6-E5A0B50ECF2B}"/>
              </a:ext>
            </a:extLst>
          </p:cNvPr>
          <p:cNvCxnSpPr>
            <a:cxnSpLocks/>
          </p:cNvCxnSpPr>
          <p:nvPr userDrawn="1"/>
        </p:nvCxnSpPr>
        <p:spPr>
          <a:xfrm>
            <a:off x="-4788" y="1663485"/>
            <a:ext cx="505883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8783"/>
            <a:ext cx="6704010" cy="56622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7AEB39-490D-4470-BB4F-F7E09AA2B5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85D492-989E-4C18-9C16-618523FA8F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7EFE7-5B1E-4F40-811D-08FCD8D618DD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38A53-4A23-41D0-8BA1-0FA329586176}"/>
              </a:ext>
            </a:extLst>
          </p:cNvPr>
          <p:cNvSpPr txBox="1"/>
          <p:nvPr userDrawn="1"/>
        </p:nvSpPr>
        <p:spPr>
          <a:xfrm>
            <a:off x="5163246" y="6373769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766BB-530B-4DC7-AD7C-CC8099056C53}"/>
              </a:ext>
            </a:extLst>
          </p:cNvPr>
          <p:cNvSpPr txBox="1"/>
          <p:nvPr userDrawn="1"/>
        </p:nvSpPr>
        <p:spPr>
          <a:xfrm>
            <a:off x="8794517" y="6386087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5E0488E-0427-43E8-BBA5-D99047E5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198783"/>
            <a:ext cx="4453973" cy="140638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E8AD4E-3E68-45C9-8E82-47CD85003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052" y="1791200"/>
            <a:ext cx="4453973" cy="40777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DBCFCE-7AC5-DF08-B76C-5409937C4E5A}"/>
              </a:ext>
            </a:extLst>
          </p:cNvPr>
          <p:cNvSpPr txBox="1"/>
          <p:nvPr userDrawn="1"/>
        </p:nvSpPr>
        <p:spPr>
          <a:xfrm>
            <a:off x="517229" y="6378792"/>
            <a:ext cx="21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jpomfret.co.uk</a:t>
            </a:r>
          </a:p>
        </p:txBody>
      </p:sp>
      <p:pic>
        <p:nvPicPr>
          <p:cNvPr id="4" name="Picture 4" descr="A simplified silhouette of a butterfly, with two symmetric pairs of wings, colored with a sky-blue gradient">
            <a:extLst>
              <a:ext uri="{FF2B5EF4-FFF2-40B4-BE49-F238E27FC236}">
                <a16:creationId xmlns:a16="http://schemas.microsoft.com/office/drawing/2014/main" id="{AD43F8FB-8D38-7F74-B673-9EAA5BD0C6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8" y="6454672"/>
            <a:ext cx="304801" cy="2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242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de Sa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6151D4-DB60-411B-A528-50BAE53F57B2}"/>
              </a:ext>
            </a:extLst>
          </p:cNvPr>
          <p:cNvSpPr/>
          <p:nvPr userDrawn="1"/>
        </p:nvSpPr>
        <p:spPr>
          <a:xfrm>
            <a:off x="1" y="-3"/>
            <a:ext cx="5054048" cy="6793393"/>
          </a:xfrm>
          <a:prstGeom prst="rect">
            <a:avLst/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60309D-55BA-4D22-AAD6-E5A0B50ECF2B}"/>
              </a:ext>
            </a:extLst>
          </p:cNvPr>
          <p:cNvCxnSpPr>
            <a:cxnSpLocks/>
          </p:cNvCxnSpPr>
          <p:nvPr userDrawn="1"/>
        </p:nvCxnSpPr>
        <p:spPr>
          <a:xfrm>
            <a:off x="-4788" y="1663485"/>
            <a:ext cx="505883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7AEB39-490D-4470-BB4F-F7E09AA2B52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85D492-989E-4C18-9C16-618523FA8F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7EFE7-5B1E-4F40-811D-08FCD8D618DD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38A53-4A23-41D0-8BA1-0FA329586176}"/>
              </a:ext>
            </a:extLst>
          </p:cNvPr>
          <p:cNvSpPr txBox="1"/>
          <p:nvPr userDrawn="1"/>
        </p:nvSpPr>
        <p:spPr>
          <a:xfrm>
            <a:off x="5163246" y="6373769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766BB-530B-4DC7-AD7C-CC8099056C53}"/>
              </a:ext>
            </a:extLst>
          </p:cNvPr>
          <p:cNvSpPr txBox="1"/>
          <p:nvPr userDrawn="1"/>
        </p:nvSpPr>
        <p:spPr>
          <a:xfrm>
            <a:off x="8794517" y="6386087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5E0488E-0427-43E8-BBA5-D99047E5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198783"/>
            <a:ext cx="4453973" cy="140638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E8AD4E-3E68-45C9-8E82-47CD85003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052" y="1791200"/>
            <a:ext cx="4453973" cy="40777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70C734-371E-4649-8734-CF48DB82D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98783"/>
            <a:ext cx="6690760" cy="5662267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Consolas" panose="020B0609020204030204" pitchFamily="49" charset="0"/>
              </a:defRPr>
            </a:lvl1pPr>
            <a:lvl2pPr marL="457200" indent="0">
              <a:buNone/>
              <a:defRPr sz="3200">
                <a:latin typeface="Consolas" panose="020B0609020204030204" pitchFamily="49" charset="0"/>
              </a:defRPr>
            </a:lvl2pPr>
            <a:lvl3pPr marL="914400" indent="0">
              <a:buNone/>
              <a:defRPr sz="2800">
                <a:latin typeface="Consolas" panose="020B0609020204030204" pitchFamily="49" charset="0"/>
              </a:defRPr>
            </a:lvl3pPr>
            <a:lvl4pPr marL="1371600" indent="0">
              <a:buNone/>
              <a:defRPr sz="2400">
                <a:latin typeface="Consolas" panose="020B0609020204030204" pitchFamily="49" charset="0"/>
              </a:defRPr>
            </a:lvl4pPr>
            <a:lvl5pPr marL="1828800" indent="0">
              <a:buNone/>
              <a:defRPr sz="2400">
                <a:latin typeface="Consolas" panose="020B060902020403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17D0C9-21B5-8628-F7B4-1FA03DD67549}"/>
              </a:ext>
            </a:extLst>
          </p:cNvPr>
          <p:cNvSpPr txBox="1"/>
          <p:nvPr userDrawn="1"/>
        </p:nvSpPr>
        <p:spPr>
          <a:xfrm>
            <a:off x="517229" y="6378792"/>
            <a:ext cx="21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jpomfret.co.uk</a:t>
            </a:r>
          </a:p>
        </p:txBody>
      </p:sp>
      <p:pic>
        <p:nvPicPr>
          <p:cNvPr id="3" name="Picture 4" descr="A simplified silhouette of a butterfly, with two symmetric pairs of wings, colored with a sky-blue gradient">
            <a:extLst>
              <a:ext uri="{FF2B5EF4-FFF2-40B4-BE49-F238E27FC236}">
                <a16:creationId xmlns:a16="http://schemas.microsoft.com/office/drawing/2014/main" id="{B8550C8E-EF29-DF87-D9D5-1FEB5E85E4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8" y="6454672"/>
            <a:ext cx="304801" cy="2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810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04FCEC-84C5-70DC-DA6C-FCD399931B32}"/>
              </a:ext>
            </a:extLst>
          </p:cNvPr>
          <p:cNvSpPr/>
          <p:nvPr userDrawn="1"/>
        </p:nvSpPr>
        <p:spPr>
          <a:xfrm>
            <a:off x="0" y="6120628"/>
            <a:ext cx="12192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76449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3600" b="1" i="0">
                <a:solidFill>
                  <a:schemeClr val="bg2"/>
                </a:soli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C08B84-B795-5CBE-2F63-681718804290}"/>
              </a:ext>
            </a:extLst>
          </p:cNvPr>
          <p:cNvSpPr/>
          <p:nvPr userDrawn="1"/>
        </p:nvSpPr>
        <p:spPr>
          <a:xfrm>
            <a:off x="0" y="6053953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35D32A7-2390-96D0-A709-B9AD0BC2A8EF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76449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D4FB2-46D4-E3D9-EE03-4CD1EC5169FD}"/>
              </a:ext>
            </a:extLst>
          </p:cNvPr>
          <p:cNvSpPr txBox="1"/>
          <p:nvPr userDrawn="1"/>
        </p:nvSpPr>
        <p:spPr>
          <a:xfrm>
            <a:off x="145392" y="6403345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>
                <a:solidFill>
                  <a:schemeClr val="bg1"/>
                </a:solidFill>
                <a:latin typeface="IBM Plex Sans" panose="020B0503050203000203" pitchFamily="34" charset="77"/>
              </a:rPr>
              <a:t>#</a:t>
            </a:r>
            <a:r>
              <a:rPr lang="en-GB" sz="1100" b="0" i="0" err="1">
                <a:solidFill>
                  <a:schemeClr val="bg1"/>
                </a:solidFill>
                <a:latin typeface="IBM Plex Sans" panose="020B0503050203000203" pitchFamily="34" charset="77"/>
              </a:rPr>
              <a:t>PASSDataSummit</a:t>
            </a:r>
            <a:endParaRPr lang="en-US" sz="1100" b="0" i="0">
              <a:solidFill>
                <a:schemeClr val="bg1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5437E5-28F1-CC4C-EB89-2B7E59B6A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35302" y="6195812"/>
            <a:ext cx="1911305" cy="58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143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9002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3600" b="1" i="0">
                <a:solidFill>
                  <a:schemeClr val="bg2"/>
                </a:soli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3EE5D93-23C3-3FA0-75B6-A87398EFA7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90027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2EB71-C95F-5ECA-5946-7945530C76A8}"/>
              </a:ext>
            </a:extLst>
          </p:cNvPr>
          <p:cNvSpPr txBox="1"/>
          <p:nvPr userDrawn="1"/>
        </p:nvSpPr>
        <p:spPr>
          <a:xfrm>
            <a:off x="145392" y="6403345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>
                <a:solidFill>
                  <a:schemeClr val="bg2"/>
                </a:solidFill>
                <a:latin typeface="IBM Plex Sans" panose="020B0503050203000203" pitchFamily="34" charset="77"/>
              </a:rPr>
              <a:t>#</a:t>
            </a:r>
            <a:r>
              <a:rPr lang="en-GB" sz="1100" b="0" i="0" err="1">
                <a:solidFill>
                  <a:schemeClr val="bg2"/>
                </a:solidFill>
                <a:latin typeface="IBM Plex Sans" panose="020B0503050203000203" pitchFamily="34" charset="77"/>
              </a:rPr>
              <a:t>PASSDataSummit</a:t>
            </a:r>
            <a:endParaRPr lang="en-US" sz="1100" b="0" i="0">
              <a:solidFill>
                <a:schemeClr val="bg2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963A2F-293C-8101-237E-3DF35EAE9C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50004" y="6200293"/>
            <a:ext cx="1881900" cy="57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2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pru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9002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3600" b="1" i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3EE5D93-23C3-3FA0-75B6-A87398EFA7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90027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2EB71-C95F-5ECA-5946-7945530C76A8}"/>
              </a:ext>
            </a:extLst>
          </p:cNvPr>
          <p:cNvSpPr txBox="1"/>
          <p:nvPr userDrawn="1"/>
        </p:nvSpPr>
        <p:spPr>
          <a:xfrm>
            <a:off x="145392" y="6403345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>
                <a:solidFill>
                  <a:schemeClr val="bg2"/>
                </a:solidFill>
                <a:latin typeface="IBM Plex Sans" panose="020B0503050203000203" pitchFamily="34" charset="77"/>
              </a:rPr>
              <a:t>#</a:t>
            </a:r>
            <a:r>
              <a:rPr lang="en-GB" sz="1100" b="0" i="0" err="1">
                <a:solidFill>
                  <a:schemeClr val="bg2"/>
                </a:solidFill>
                <a:latin typeface="IBM Plex Sans" panose="020B0503050203000203" pitchFamily="34" charset="77"/>
              </a:rPr>
              <a:t>PASSDataSummit</a:t>
            </a:r>
            <a:endParaRPr lang="en-US" sz="1100" b="0" i="0">
              <a:solidFill>
                <a:schemeClr val="bg2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8BDBEB-2C72-038D-FD53-1E37CFAFFD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50004" y="6200293"/>
            <a:ext cx="1881900" cy="57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833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er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12E87-3B96-7F05-48CB-19DAB2A3F9A6}"/>
              </a:ext>
            </a:extLst>
          </p:cNvPr>
          <p:cNvSpPr/>
          <p:nvPr userDrawn="1"/>
        </p:nvSpPr>
        <p:spPr>
          <a:xfrm>
            <a:off x="0" y="6791325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2AF67A-85E3-E541-AF67-CC981D7B6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05257" y="5937644"/>
            <a:ext cx="2454729" cy="7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48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ot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12E87-3B96-7F05-48CB-19DAB2A3F9A6}"/>
              </a:ext>
            </a:extLst>
          </p:cNvPr>
          <p:cNvSpPr/>
          <p:nvPr userDrawn="1"/>
        </p:nvSpPr>
        <p:spPr>
          <a:xfrm>
            <a:off x="0" y="6791325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3F5C0C2-DFB8-E862-897F-D37418954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938010" y="1680297"/>
            <a:ext cx="8315979" cy="2249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lnSpc>
                <a:spcPct val="100000"/>
              </a:lnSpc>
              <a:defRPr sz="6000" b="1" i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US" sz="4800"/>
              <a:t>“A very wise and interesting quote from someone great can go in this text box”</a:t>
            </a:r>
            <a:endParaRPr lang="en-US" alt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42D81B-0938-F8C4-8B08-958D01B07BDE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1938010" y="4152532"/>
            <a:ext cx="8315979" cy="881063"/>
          </a:xfrm>
        </p:spPr>
        <p:txBody>
          <a:bodyPr/>
          <a:lstStyle>
            <a:lvl1pPr marL="0" indent="0" algn="ctr">
              <a:buNone/>
              <a:defRPr sz="3200" b="0" i="0" baseline="0">
                <a:solidFill>
                  <a:schemeClr val="tx1"/>
                </a:solidFill>
                <a:latin typeface="Kanit Light" pitchFamily="2" charset="-34"/>
                <a:cs typeface="Kanit Light" pitchFamily="2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solidFill>
                  <a:schemeClr val="tx1"/>
                </a:solidFill>
              </a:rPr>
              <a:t>Person or Company Logo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55BFD79-81BE-F9F6-2784-283FC49D66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50004" y="6200293"/>
            <a:ext cx="1881900" cy="57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00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rtual backgrou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12E87-3B96-7F05-48CB-19DAB2A3F9A6}"/>
              </a:ext>
            </a:extLst>
          </p:cNvPr>
          <p:cNvSpPr/>
          <p:nvPr userDrawn="1"/>
        </p:nvSpPr>
        <p:spPr>
          <a:xfrm>
            <a:off x="0" y="6791325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8E867D-DCC9-D7A5-00CA-EF3B0D4E50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35302" y="6195812"/>
            <a:ext cx="1911305" cy="58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7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016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94DB54-D790-4AA8-B76F-12468FC8090A}"/>
              </a:ext>
            </a:extLst>
          </p:cNvPr>
          <p:cNvSpPr/>
          <p:nvPr userDrawn="1"/>
        </p:nvSpPr>
        <p:spPr>
          <a:xfrm>
            <a:off x="0" y="-2"/>
            <a:ext cx="12191999" cy="818650"/>
          </a:xfrm>
          <a:prstGeom prst="rect">
            <a:avLst/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CFEF1-B4B8-4A37-9BBD-303992780C1F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03852"/>
            <a:ext cx="10515600" cy="5173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087D7-A543-4AEF-841E-ADF2ABA6D880}"/>
              </a:ext>
            </a:extLst>
          </p:cNvPr>
          <p:cNvSpPr txBox="1"/>
          <p:nvPr userDrawn="1"/>
        </p:nvSpPr>
        <p:spPr>
          <a:xfrm>
            <a:off x="517229" y="6378792"/>
            <a:ext cx="21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jpomfret.co.uk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7EB95D-4B66-4D75-B9F7-2460E6D4CCB4}"/>
              </a:ext>
            </a:extLst>
          </p:cNvPr>
          <p:cNvSpPr txBox="1"/>
          <p:nvPr userDrawn="1"/>
        </p:nvSpPr>
        <p:spPr>
          <a:xfrm>
            <a:off x="5163246" y="6378792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B8F19-B5CC-42CB-8C6C-2A23BC391147}"/>
              </a:ext>
            </a:extLst>
          </p:cNvPr>
          <p:cNvSpPr txBox="1"/>
          <p:nvPr userDrawn="1"/>
        </p:nvSpPr>
        <p:spPr>
          <a:xfrm>
            <a:off x="8794517" y="6378792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E67BC9-FD2B-4888-BFF5-E87D9B6ABE7D}"/>
              </a:ext>
            </a:extLst>
          </p:cNvPr>
          <p:cNvCxnSpPr/>
          <p:nvPr userDrawn="1"/>
        </p:nvCxnSpPr>
        <p:spPr>
          <a:xfrm>
            <a:off x="-4788" y="818648"/>
            <a:ext cx="12196788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A simplified silhouette of a butterfly, with two symmetric pairs of wings, colored with a sky-blue gradient">
            <a:extLst>
              <a:ext uri="{FF2B5EF4-FFF2-40B4-BE49-F238E27FC236}">
                <a16:creationId xmlns:a16="http://schemas.microsoft.com/office/drawing/2014/main" id="{F6D99B29-A83E-2645-FA44-95FAC3C988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8" y="6454672"/>
            <a:ext cx="304801" cy="2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103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83" r:id="rId4"/>
    <p:sldLayoutId id="2147483684" r:id="rId5"/>
    <p:sldLayoutId id="2147483685" r:id="rId6"/>
    <p:sldLayoutId id="2147483686" r:id="rId7"/>
    <p:sldLayoutId id="2147483688" r:id="rId8"/>
    <p:sldLayoutId id="2147483675" r:id="rId9"/>
    <p:sldLayoutId id="2147483676" r:id="rId10"/>
    <p:sldLayoutId id="2147483677" r:id="rId11"/>
    <p:sldLayoutId id="2147483678" r:id="rId12"/>
    <p:sldLayoutId id="2147483689" r:id="rId13"/>
    <p:sldLayoutId id="2147483679" r:id="rId14"/>
    <p:sldLayoutId id="2147483680" r:id="rId15"/>
    <p:sldLayoutId id="2147483687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hyperlink" Target="mailto:jpomfret7@gmail.com" TargetMode="Externa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pomfret/dbatools-githubaction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hyperlink" Target="mailto:jpomfret7@gmail.com" TargetMode="External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3BD4F-833F-33DB-249E-84B32EE3D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94CF2D-F1DF-D8F3-E10F-0EFEF7CBE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71" y="2549012"/>
            <a:ext cx="4673883" cy="46738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2672BC-1CFC-1F9D-97C4-E2344BE95E5D}"/>
              </a:ext>
            </a:extLst>
          </p:cNvPr>
          <p:cNvSpPr/>
          <p:nvPr/>
        </p:nvSpPr>
        <p:spPr>
          <a:xfrm>
            <a:off x="3280449" y="2325329"/>
            <a:ext cx="6050326" cy="545690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GB" sz="6600" dirty="0">
                <a:solidFill>
                  <a:schemeClr val="bg1"/>
                </a:solidFill>
              </a:rPr>
              <a:t>SQL Server Automation </a:t>
            </a:r>
            <a:endParaRPr lang="en-GB" sz="5400" dirty="0">
              <a:solidFill>
                <a:schemeClr val="bg1"/>
              </a:solidFill>
            </a:endParaRPr>
          </a:p>
          <a:p>
            <a:pPr algn="ctr"/>
            <a:r>
              <a:rPr lang="en-GB" sz="4400" dirty="0">
                <a:solidFill>
                  <a:schemeClr val="bg1"/>
                </a:solidFill>
              </a:rPr>
              <a:t>with PowerShell, </a:t>
            </a:r>
            <a:r>
              <a:rPr lang="en-GB" sz="4400" dirty="0" err="1">
                <a:solidFill>
                  <a:schemeClr val="bg1"/>
                </a:solidFill>
              </a:rPr>
              <a:t>dbatools</a:t>
            </a:r>
            <a:r>
              <a:rPr lang="en-GB" sz="44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GB" sz="4400" dirty="0">
                <a:solidFill>
                  <a:schemeClr val="bg1"/>
                </a:solidFill>
              </a:rPr>
              <a:t>and GitHub Actions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3421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F8DE-A1B6-4914-A23E-D3683274E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998" y="1661160"/>
            <a:ext cx="11266004" cy="2839371"/>
          </a:xfrm>
        </p:spPr>
        <p:txBody>
          <a:bodyPr>
            <a:normAutofit fontScale="90000"/>
          </a:bodyPr>
          <a:lstStyle/>
          <a:p>
            <a:r>
              <a:rPr lang="en-GB" dirty="0"/>
              <a:t>SQL Server Automation with PowerShell, </a:t>
            </a:r>
            <a:r>
              <a:rPr lang="en-GB" dirty="0" err="1"/>
              <a:t>dbatools</a:t>
            </a:r>
            <a:r>
              <a:rPr lang="en-GB" dirty="0"/>
              <a:t> and GitHub Actions</a:t>
            </a:r>
            <a:endParaRPr lang="en-US" dirty="0"/>
          </a:p>
        </p:txBody>
      </p:sp>
      <p:pic>
        <p:nvPicPr>
          <p:cNvPr id="6" name="Picture 5" descr="dbatools">
            <a:extLst>
              <a:ext uri="{FF2B5EF4-FFF2-40B4-BE49-F238E27FC236}">
                <a16:creationId xmlns:a16="http://schemas.microsoft.com/office/drawing/2014/main" id="{8C6B9BF0-CCF3-43FC-9804-3BEE56C9D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29" y="441961"/>
            <a:ext cx="1386142" cy="13861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90E0D2-7CFB-50A7-31F8-489C00DE0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0" y="3733800"/>
            <a:ext cx="3429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B26E22-9AFF-7485-0780-E69C6A264A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908" y="4498128"/>
            <a:ext cx="3828184" cy="244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5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9CB3-7382-4630-9D25-12462617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198784"/>
            <a:ext cx="4453973" cy="1273178"/>
          </a:xfrm>
        </p:spPr>
        <p:txBody>
          <a:bodyPr/>
          <a:lstStyle/>
          <a:p>
            <a:r>
              <a:rPr lang="en-US" dirty="0"/>
              <a:t>Jess Pomfret</a:t>
            </a:r>
            <a:br>
              <a:rPr lang="en-US" dirty="0"/>
            </a:br>
            <a:r>
              <a:rPr lang="en-US" sz="2400" dirty="0"/>
              <a:t>(She/Her)</a:t>
            </a:r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DC714AD4-83A8-4057-BC8E-2D231207D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21" y="4064138"/>
            <a:ext cx="1296692" cy="2053095"/>
          </a:xfrm>
          <a:prstGeom prst="rect">
            <a:avLst/>
          </a:prstGeom>
        </p:spPr>
      </p:pic>
      <p:pic>
        <p:nvPicPr>
          <p:cNvPr id="6" name="Picture 5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1FDAF9AD-CE55-000A-47C3-57C965972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52" y="1940648"/>
            <a:ext cx="4291584" cy="42915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A60581-8059-605C-38CC-3A7FBE9F32A9}"/>
              </a:ext>
            </a:extLst>
          </p:cNvPr>
          <p:cNvSpPr txBox="1">
            <a:spLocks/>
          </p:cNvSpPr>
          <p:nvPr/>
        </p:nvSpPr>
        <p:spPr>
          <a:xfrm>
            <a:off x="5183188" y="1596571"/>
            <a:ext cx="5618222" cy="45206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Platform Engineer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LinkedIn Learning Instructor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Open Source Contributor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 err="1"/>
              <a:t>dbatools</a:t>
            </a:r>
            <a:r>
              <a:rPr lang="en-US" dirty="0"/>
              <a:t>, </a:t>
            </a:r>
            <a:r>
              <a:rPr lang="en-US" dirty="0" err="1"/>
              <a:t>MicrosoftFabricMgmt</a:t>
            </a:r>
            <a:r>
              <a:rPr lang="en-US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Passionate about Automation, Proper Football &amp; Fitness</a:t>
            </a:r>
            <a:endParaRPr lang="en-US" dirty="0">
              <a:hlinkClick r:id=""/>
            </a:endParaRPr>
          </a:p>
          <a:p>
            <a:endParaRPr lang="en-US" dirty="0">
              <a:hlinkClick r:id=""/>
            </a:endParaRPr>
          </a:p>
          <a:p>
            <a:r>
              <a:rPr lang="en-US" sz="2600" dirty="0">
                <a:hlinkClick r:id="rId5"/>
              </a:rPr>
              <a:t>jpomfret7@gmail.com</a:t>
            </a:r>
            <a:endParaRPr lang="en-US" sz="2600" dirty="0"/>
          </a:p>
          <a:p>
            <a:r>
              <a:rPr lang="en-US" sz="2600" dirty="0"/>
              <a:t>jesspomfret.com</a:t>
            </a:r>
          </a:p>
          <a:p>
            <a:r>
              <a:rPr lang="en-US" sz="2600" dirty="0"/>
              <a:t>linkedin.com/in/</a:t>
            </a:r>
            <a:r>
              <a:rPr lang="en-US" sz="2600" dirty="0" err="1"/>
              <a:t>jpomfret</a:t>
            </a:r>
            <a:r>
              <a:rPr lang="en-US" sz="2600" dirty="0"/>
              <a:t>/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A7A62-ABC3-F587-3BC6-43423ED040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568" y="178778"/>
            <a:ext cx="3491827" cy="76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3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3F27-EF55-4172-ACEE-8D340D50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plan?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31764-D9F6-4435-B0F7-9C4344D10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GitHub Actions?</a:t>
            </a:r>
          </a:p>
          <a:p>
            <a:r>
              <a:rPr lang="en-US" dirty="0"/>
              <a:t>Add in some PowerShell &amp; </a:t>
            </a:r>
            <a:r>
              <a:rPr lang="en-US" dirty="0" err="1"/>
              <a:t>dbatools</a:t>
            </a:r>
            <a:endParaRPr lang="en-US" dirty="0"/>
          </a:p>
          <a:p>
            <a:r>
              <a:rPr lang="en-US" dirty="0"/>
              <a:t>Automate some administration tasks</a:t>
            </a:r>
          </a:p>
          <a:p>
            <a:pPr lvl="1"/>
            <a:endParaRPr lang="en-US" dirty="0"/>
          </a:p>
        </p:txBody>
      </p:sp>
      <p:pic>
        <p:nvPicPr>
          <p:cNvPr id="4" name="Picture 4" descr="Understanding GitHub Actions: Core Concepts and Fundamentals">
            <a:extLst>
              <a:ext uri="{FF2B5EF4-FFF2-40B4-BE49-F238E27FC236}">
                <a16:creationId xmlns:a16="http://schemas.microsoft.com/office/drawing/2014/main" id="{19A614FD-E9A4-8CFF-0F0F-945718C6C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8" t="5925" r="20533" b="3142"/>
          <a:stretch>
            <a:fillRect/>
          </a:stretch>
        </p:blipFill>
        <p:spPr bwMode="auto">
          <a:xfrm>
            <a:off x="590027" y="4340135"/>
            <a:ext cx="2389517" cy="178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5F1B7D7-A418-199C-5955-721AE3F7C98C}"/>
              </a:ext>
            </a:extLst>
          </p:cNvPr>
          <p:cNvGrpSpPr/>
          <p:nvPr/>
        </p:nvGrpSpPr>
        <p:grpSpPr>
          <a:xfrm>
            <a:off x="4652983" y="4340135"/>
            <a:ext cx="3718969" cy="1550505"/>
            <a:chOff x="4652983" y="4340135"/>
            <a:chExt cx="3718969" cy="1550505"/>
          </a:xfrm>
        </p:grpSpPr>
        <p:pic>
          <p:nvPicPr>
            <p:cNvPr id="7" name="Picture 2" descr="dbatools">
              <a:extLst>
                <a:ext uri="{FF2B5EF4-FFF2-40B4-BE49-F238E27FC236}">
                  <a16:creationId xmlns:a16="http://schemas.microsoft.com/office/drawing/2014/main" id="{E5BC4C6E-8AE8-00C3-B823-6194FD003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7827" y="4810587"/>
              <a:ext cx="2524125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PowerShell Gallery | Home">
              <a:extLst>
                <a:ext uri="{FF2B5EF4-FFF2-40B4-BE49-F238E27FC236}">
                  <a16:creationId xmlns:a16="http://schemas.microsoft.com/office/drawing/2014/main" id="{DBEAAE6B-5A2B-CA3F-A9D0-242D5F4ED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2983" y="4340135"/>
              <a:ext cx="945430" cy="1550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FF4AB5F-5A31-7888-85CD-04DDBEB32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835" y="4454836"/>
            <a:ext cx="1321101" cy="132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51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9F36-7294-2348-6427-E246B2B3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GitHub Actions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598BEB-F7A1-AB73-4119-8C172C42E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@actions">
            <a:extLst>
              <a:ext uri="{FF2B5EF4-FFF2-40B4-BE49-F238E27FC236}">
                <a16:creationId xmlns:a16="http://schemas.microsoft.com/office/drawing/2014/main" id="{6F72ED27-C564-0E53-F019-EA17BE4AD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960" y="2439000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82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6613-B955-03DE-DC3E-AD3DFBA6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GitHub Actions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55ACE-4A8C-C7F5-3054-BC7E9AFCA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CI\CD Platform</a:t>
            </a:r>
          </a:p>
          <a:p>
            <a:r>
              <a:rPr lang="en-GB"/>
              <a:t>Allows you to automate things</a:t>
            </a:r>
          </a:p>
          <a:p>
            <a:r>
              <a:rPr lang="en-GB"/>
              <a:t>Based on triggers</a:t>
            </a:r>
          </a:p>
          <a:p>
            <a:pPr lvl="1"/>
            <a:r>
              <a:rPr lang="en-GB"/>
              <a:t>Schedule</a:t>
            </a:r>
          </a:p>
          <a:p>
            <a:pPr lvl="1"/>
            <a:r>
              <a:rPr lang="en-GB"/>
              <a:t>Commit</a:t>
            </a:r>
          </a:p>
          <a:p>
            <a:pPr lvl="1"/>
            <a:r>
              <a:rPr lang="en-GB"/>
              <a:t>Pull Request</a:t>
            </a:r>
          </a:p>
          <a:p>
            <a:pPr lvl="1"/>
            <a:r>
              <a:rPr lang="en-GB"/>
              <a:t>Issue</a:t>
            </a:r>
          </a:p>
          <a:p>
            <a:r>
              <a:rPr lang="en-GB"/>
              <a:t>Uses GitHub Hosted or Self-Hosted runners </a:t>
            </a:r>
          </a:p>
        </p:txBody>
      </p:sp>
      <p:pic>
        <p:nvPicPr>
          <p:cNvPr id="1026" name="Picture 2" descr="@actions">
            <a:extLst>
              <a:ext uri="{FF2B5EF4-FFF2-40B4-BE49-F238E27FC236}">
                <a16:creationId xmlns:a16="http://schemas.microsoft.com/office/drawing/2014/main" id="{BFC93674-4868-4EC3-DE6B-519C1C193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631" y="1003852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076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169B-AE1C-C8C2-3E85-E405DAF3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264B-E09F-6EF0-BF43-55750D34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Azure DevOps Pipelines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BB11A-3B8A-E14F-F99C-A3C75D98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CI\CD Platform</a:t>
            </a:r>
          </a:p>
          <a:p>
            <a:r>
              <a:rPr lang="en-GB"/>
              <a:t>Allows you to automate things</a:t>
            </a:r>
          </a:p>
          <a:p>
            <a:r>
              <a:rPr lang="en-GB"/>
              <a:t>Based on triggers</a:t>
            </a:r>
          </a:p>
          <a:p>
            <a:pPr lvl="1"/>
            <a:r>
              <a:rPr lang="en-GB"/>
              <a:t>Schedule</a:t>
            </a:r>
          </a:p>
          <a:p>
            <a:pPr lvl="1"/>
            <a:r>
              <a:rPr lang="en-GB"/>
              <a:t>Commit</a:t>
            </a:r>
          </a:p>
          <a:p>
            <a:pPr lvl="1"/>
            <a:r>
              <a:rPr lang="en-GB"/>
              <a:t>Pull Request</a:t>
            </a:r>
          </a:p>
          <a:p>
            <a:pPr lvl="1"/>
            <a:r>
              <a:rPr lang="en-GB"/>
              <a:t>Work Item (not as easy – need to use webhook trigger)</a:t>
            </a:r>
          </a:p>
          <a:p>
            <a:r>
              <a:rPr lang="en-GB"/>
              <a:t>Uses Microsoft Hosted or Self-Hosted agents</a:t>
            </a:r>
          </a:p>
        </p:txBody>
      </p:sp>
      <p:pic>
        <p:nvPicPr>
          <p:cNvPr id="1028" name="Picture 4" descr="Azure Pipelines: A Comprehensive Guide to Streamlining Your DevOps Workflow  - WeCodeRight">
            <a:extLst>
              <a:ext uri="{FF2B5EF4-FFF2-40B4-BE49-F238E27FC236}">
                <a16:creationId xmlns:a16="http://schemas.microsoft.com/office/drawing/2014/main" id="{C036D8B5-7B41-B27A-91F4-FA956A5B2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6994" y="1003852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974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52838-B85D-73CE-DBA3-F8CC4AA3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BF26-8823-9FA6-8D74-2CA84804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GitHub Actions use cases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75CC5-C38F-3DCA-E433-AF85BD7D0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 push – run automated tests</a:t>
            </a:r>
          </a:p>
          <a:p>
            <a:r>
              <a:rPr lang="en-GB" dirty="0"/>
              <a:t>On schedule – look for issues that are stale</a:t>
            </a:r>
          </a:p>
          <a:p>
            <a:r>
              <a:rPr lang="en-GB" dirty="0"/>
              <a:t>Manually – publish package to NuGet</a:t>
            </a:r>
          </a:p>
          <a:p>
            <a:endParaRPr lang="en-GB" dirty="0"/>
          </a:p>
          <a:p>
            <a:r>
              <a:rPr lang="en-GB" dirty="0"/>
              <a:t>On issue creation </a:t>
            </a:r>
          </a:p>
          <a:p>
            <a:pPr lvl="1"/>
            <a:r>
              <a:rPr lang="en-GB" dirty="0"/>
              <a:t>Create a SQL Server database?</a:t>
            </a:r>
          </a:p>
          <a:p>
            <a:pPr lvl="1"/>
            <a:r>
              <a:rPr lang="en-GB" dirty="0"/>
              <a:t>add article to replication?</a:t>
            </a:r>
          </a:p>
          <a:p>
            <a:pPr lvl="1"/>
            <a:r>
              <a:rPr lang="en-GB" dirty="0"/>
              <a:t>Start an agent job?</a:t>
            </a:r>
          </a:p>
        </p:txBody>
      </p:sp>
    </p:spTree>
    <p:extLst>
      <p:ext uri="{BB962C8B-B14F-4D97-AF65-F5344CB8AC3E}">
        <p14:creationId xmlns:p14="http://schemas.microsoft.com/office/powerpoint/2010/main" val="135040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41D79F-76DF-34C5-4E37-E299DCADF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40" y="0"/>
            <a:ext cx="9646919" cy="619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6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0C86-FFA6-9353-C6F7-556AE85B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6A44-46E2-043B-5F71-D4B33113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sz="4400" dirty="0"/>
              <a:t>Demo</a:t>
            </a:r>
            <a:r>
              <a:rPr lang="en-US" dirty="0"/>
              <a:t> </a:t>
            </a:r>
            <a:r>
              <a:rPr lang="en-US" sz="4400" dirty="0"/>
              <a:t>Time – Our first GitHub Action!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2C126-8E50-F235-63BA-E8E2FCF0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GB" dirty="0"/>
              <a:t>Mark stale issues and pull requests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AI Summaries?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1654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8600-FC27-8488-548F-D646611E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D12D84-C8F2-1E38-4510-1AFDC00F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dbatools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02E41-1F0E-A85C-1A11-50C37510C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2" name="Picture 4" descr="dbatools logo">
            <a:extLst>
              <a:ext uri="{FF2B5EF4-FFF2-40B4-BE49-F238E27FC236}">
                <a16:creationId xmlns:a16="http://schemas.microsoft.com/office/drawing/2014/main" id="{F6A7B8E1-909A-7117-43C7-3890A0D66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272" y="2431256"/>
            <a:ext cx="1995488" cy="1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919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2E1081-715B-9203-5D6E-D1DDA1C8AD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960120"/>
            <a:ext cx="10515600" cy="397446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solidFill>
                  <a:schemeClr val="accent5"/>
                </a:solidFill>
              </a:rPr>
              <a:t>It’s like a command line </a:t>
            </a:r>
            <a:br>
              <a:rPr lang="en-GB" dirty="0">
                <a:solidFill>
                  <a:schemeClr val="accent5"/>
                </a:solidFill>
              </a:rPr>
            </a:br>
            <a:r>
              <a:rPr lang="en-GB" dirty="0">
                <a:solidFill>
                  <a:schemeClr val="accent5"/>
                </a:solidFill>
              </a:rPr>
              <a:t>SQL Server Management Studio</a:t>
            </a:r>
            <a:br>
              <a:rPr lang="en-GB" dirty="0">
                <a:solidFill>
                  <a:schemeClr val="accent5"/>
                </a:solidFill>
              </a:rPr>
            </a:br>
            <a:br>
              <a:rPr lang="en-GB" dirty="0">
                <a:solidFill>
                  <a:schemeClr val="accent5"/>
                </a:solidFill>
              </a:rPr>
            </a:br>
            <a:r>
              <a:rPr lang="en-GB" dirty="0">
                <a:solidFill>
                  <a:schemeClr val="accent5"/>
                </a:solidFill>
              </a:rPr>
              <a:t>If you can do it in SSMS – you can do it in </a:t>
            </a:r>
            <a:r>
              <a:rPr lang="en-GB" dirty="0" err="1">
                <a:solidFill>
                  <a:schemeClr val="accent5"/>
                </a:solidFill>
              </a:rPr>
              <a:t>dbatools</a:t>
            </a:r>
            <a:r>
              <a:rPr lang="en-GB" dirty="0">
                <a:solidFill>
                  <a:schemeClr val="accent5"/>
                </a:solidFill>
              </a:rPr>
              <a:t>*</a:t>
            </a:r>
            <a:br>
              <a:rPr lang="en-GB" dirty="0">
                <a:solidFill>
                  <a:schemeClr val="accent5"/>
                </a:solidFill>
              </a:rPr>
            </a:br>
            <a:br>
              <a:rPr lang="en-GB" dirty="0">
                <a:solidFill>
                  <a:schemeClr val="accent5"/>
                </a:solidFill>
              </a:rPr>
            </a:br>
            <a:r>
              <a:rPr lang="en-GB" sz="3100" dirty="0">
                <a:solidFill>
                  <a:schemeClr val="accent5"/>
                </a:solidFill>
              </a:rPr>
              <a:t>*mostly</a:t>
            </a:r>
            <a:endParaRPr lang="en-GB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72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E99F3-4F47-45A5-23E9-8755F6F0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027EDE-0552-600B-9325-42923C95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Database Info for User Database on Sql1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88A07-F1A7-57B7-3214-EE91C3631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E111B-6194-E1BA-1E5D-9A36F75B1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6" y="1152089"/>
            <a:ext cx="8507012" cy="3200847"/>
          </a:xfrm>
          <a:prstGeom prst="rect">
            <a:avLst/>
          </a:prstGeom>
          <a:ln>
            <a:solidFill>
              <a:srgbClr val="00001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1306F0-CC6C-2450-C529-231476F52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5171"/>
          <a:stretch/>
        </p:blipFill>
        <p:spPr>
          <a:xfrm>
            <a:off x="179226" y="4593658"/>
            <a:ext cx="11833548" cy="1181479"/>
          </a:xfrm>
          <a:prstGeom prst="rect">
            <a:avLst/>
          </a:prstGeom>
          <a:ln>
            <a:solidFill>
              <a:srgbClr val="000011"/>
            </a:solidFill>
          </a:ln>
        </p:spPr>
      </p:pic>
    </p:spTree>
    <p:extLst>
      <p:ext uri="{BB962C8B-B14F-4D97-AF65-F5344CB8AC3E}">
        <p14:creationId xmlns:p14="http://schemas.microsoft.com/office/powerpoint/2010/main" val="163262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F46A-3D12-DF25-D78C-E743A545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901E47-2867-48CB-880E-6DB9BBEF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Database Info for User Database on Sql1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26355B-43DA-99BE-81F7-E1E1E6D0C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324EBB-4633-0AD3-6117-B7DA7845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1" y="1719877"/>
            <a:ext cx="11924479" cy="3418245"/>
          </a:xfrm>
          <a:prstGeom prst="rect">
            <a:avLst/>
          </a:prstGeom>
          <a:ln>
            <a:solidFill>
              <a:srgbClr val="000011"/>
            </a:solidFill>
          </a:ln>
        </p:spPr>
      </p:pic>
    </p:spTree>
    <p:extLst>
      <p:ext uri="{BB962C8B-B14F-4D97-AF65-F5344CB8AC3E}">
        <p14:creationId xmlns:p14="http://schemas.microsoft.com/office/powerpoint/2010/main" val="33825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9A0347-DE64-AD29-E486-32CE0766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Backup a database on Sql1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B81683-43BA-F964-A0CE-2FE9E9B27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7B20D-C0EC-DD17-20FA-C986033A2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66" y="1155723"/>
            <a:ext cx="6023952" cy="45840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6F7F6A-FF68-8E61-1E9B-DC0693AD8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979" y="1164145"/>
            <a:ext cx="5229955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2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EB7800-3B3E-D370-8613-E6864E57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Get SQL Agent jobs on Sql1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734B36-C614-60DD-E225-8008F3D4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BCB82-A769-62F4-52A3-2DBC95435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38" y="1155723"/>
            <a:ext cx="5499153" cy="4905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66A57-99AA-2AE1-EA8F-772D18D95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29" y="1155723"/>
            <a:ext cx="544906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9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FE7195-55DE-0F7E-18B5-A6413CCD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Get Database Name and </a:t>
            </a:r>
            <a:r>
              <a:rPr lang="en-GB" sz="2800" dirty="0" err="1"/>
              <a:t>AutoShrink</a:t>
            </a:r>
            <a:r>
              <a:rPr lang="en-GB" sz="2800" dirty="0"/>
              <a:t> status on Sql1, Sql2 and Sql3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2C1777-ED9A-142D-4167-A69BFFEA2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EA3E1-249A-D7FA-58CA-76277E0CF2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10"/>
          <a:stretch/>
        </p:blipFill>
        <p:spPr>
          <a:xfrm>
            <a:off x="144979" y="1659478"/>
            <a:ext cx="3791479" cy="2000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90F20F-8CE5-790D-8F42-18386BDC3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41"/>
          <a:stretch/>
        </p:blipFill>
        <p:spPr>
          <a:xfrm>
            <a:off x="4071655" y="1720324"/>
            <a:ext cx="3791479" cy="194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399264-6F70-D732-3778-7FA758653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331" y="1020932"/>
            <a:ext cx="4048690" cy="63278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B1A075-2041-A746-1529-1530617054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8" b="86696"/>
          <a:stretch/>
        </p:blipFill>
        <p:spPr>
          <a:xfrm>
            <a:off x="477583" y="4545485"/>
            <a:ext cx="7082207" cy="98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4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B350F-8861-9F08-BAC7-21EC63E0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661BAB-2C00-CD17-CB4F-841D0BEF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Get Database Name and </a:t>
            </a:r>
            <a:r>
              <a:rPr lang="en-GB" sz="2800" dirty="0" err="1"/>
              <a:t>AutoShrink</a:t>
            </a:r>
            <a:r>
              <a:rPr lang="en-GB" sz="2800" dirty="0"/>
              <a:t> status on Sql1, Sql2 and Sql3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F8AB52-7895-D0C6-89F9-DDE3E070F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3B2BEE3-9CC0-A90C-0D96-2562A7CDD3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" b="31017"/>
          <a:stretch/>
        </p:blipFill>
        <p:spPr>
          <a:xfrm>
            <a:off x="2334843" y="1746000"/>
            <a:ext cx="7082207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15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FF6200-CD25-4BFB-87AE-CCCF7587B32A}"/>
              </a:ext>
            </a:extLst>
          </p:cNvPr>
          <p:cNvSpPr/>
          <p:nvPr/>
        </p:nvSpPr>
        <p:spPr>
          <a:xfrm>
            <a:off x="4620859" y="5949281"/>
            <a:ext cx="27451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dbatools.io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61C37-D322-4E6E-986E-452E14038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" y="1"/>
            <a:ext cx="12176527" cy="588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4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BCD1-CFBA-F284-0EEA-A13D111D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7E851-115D-ABEF-ACA6-9F991F19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sz="4400" dirty="0"/>
              <a:t>Demo</a:t>
            </a:r>
            <a:r>
              <a:rPr lang="en-US" dirty="0"/>
              <a:t> </a:t>
            </a:r>
            <a:r>
              <a:rPr lang="en-US" sz="4400" dirty="0"/>
              <a:t>Time – </a:t>
            </a:r>
            <a:r>
              <a:rPr lang="en-US" sz="4400" dirty="0" err="1"/>
              <a:t>dbatools</a:t>
            </a:r>
            <a:r>
              <a:rPr lang="en-US" sz="4400" dirty="0"/>
              <a:t> Magic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446CF-C57F-6A09-36AE-B56207EB4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GB" dirty="0"/>
              <a:t>Create a new database</a:t>
            </a:r>
          </a:p>
          <a:p>
            <a:pPr marL="0" indent="0">
              <a:buNone/>
            </a:pPr>
            <a:r>
              <a:rPr lang="en-GB" dirty="0"/>
              <a:t>Backup some databases</a:t>
            </a:r>
          </a:p>
          <a:p>
            <a:pPr marL="0" indent="0">
              <a:buNone/>
            </a:pPr>
            <a:r>
              <a:rPr lang="en-GB" dirty="0"/>
              <a:t>Collect some information</a:t>
            </a:r>
          </a:p>
        </p:txBody>
      </p:sp>
    </p:spTree>
    <p:extLst>
      <p:ext uri="{BB962C8B-B14F-4D97-AF65-F5344CB8AC3E}">
        <p14:creationId xmlns:p14="http://schemas.microsoft.com/office/powerpoint/2010/main" val="2652650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AF6B9-20B4-261F-BC62-9B6F1B35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B4AACA-7D8D-BBFC-DF46-C2CAAA2B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GitHub Actions &amp; </a:t>
            </a:r>
            <a:r>
              <a:rPr lang="en-GB" dirty="0" err="1"/>
              <a:t>dbatools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ED78D-FDA1-D3A9-B682-3D8BCCA91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2" name="Picture 4" descr="dbatools logo">
            <a:extLst>
              <a:ext uri="{FF2B5EF4-FFF2-40B4-BE49-F238E27FC236}">
                <a16:creationId xmlns:a16="http://schemas.microsoft.com/office/drawing/2014/main" id="{004CE23E-9EB9-8A47-4DAD-824558E0B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154" y="533808"/>
            <a:ext cx="1208022" cy="120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@actions">
            <a:extLst>
              <a:ext uri="{FF2B5EF4-FFF2-40B4-BE49-F238E27FC236}">
                <a16:creationId xmlns:a16="http://schemas.microsoft.com/office/drawing/2014/main" id="{98E43182-79BF-DA92-6A1D-68ED26F3E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089" y="533808"/>
            <a:ext cx="1208022" cy="120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79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98F6E-2DC7-67E9-021B-095CEC30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1D826-E4B1-B198-E21D-5DC78D46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GitHub Actions - Runners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C3BB5-E554-FBD5-6DAE-8F9D96830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Where the code runs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GitHub-hosted runners</a:t>
            </a:r>
          </a:p>
          <a:p>
            <a:r>
              <a:rPr lang="en-GB" dirty="0"/>
              <a:t>Self-hosted runners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800" dirty="0"/>
              <a:t>https://docs.github.com/en/actions/concepts/runners</a:t>
            </a:r>
          </a:p>
        </p:txBody>
      </p:sp>
      <p:pic>
        <p:nvPicPr>
          <p:cNvPr id="1026" name="Picture 2" descr="@actions">
            <a:extLst>
              <a:ext uri="{FF2B5EF4-FFF2-40B4-BE49-F238E27FC236}">
                <a16:creationId xmlns:a16="http://schemas.microsoft.com/office/drawing/2014/main" id="{49418F62-B4D1-7671-FF3A-B21FFAF23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311" y="1003852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29514A-C90B-679D-9181-1DECB0E57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311" y="3799523"/>
            <a:ext cx="237744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19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3327E-0692-8D30-E637-36387DA0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3151-494A-8CAC-4AD0-3C6461EC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/>
              <a:t>Install a Self-Hosted Runner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B0E8B-DF25-F347-B239-0D06553A6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27" y="1155723"/>
            <a:ext cx="10466631" cy="500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00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D02185-FAB4-5B95-2463-80D4D0772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663" y="0"/>
            <a:ext cx="6046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57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92D20B-C59E-B168-3871-E243DB61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999786"/>
            <a:ext cx="11364911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63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391DC-066D-1C9E-26F2-B49C8737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FF411-5598-5251-6270-143382F3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sz="4400" dirty="0"/>
              <a:t>Demo</a:t>
            </a:r>
            <a:r>
              <a:rPr lang="en-US" dirty="0"/>
              <a:t> </a:t>
            </a:r>
            <a:r>
              <a:rPr lang="en-US" sz="4400" dirty="0"/>
              <a:t>Time – extra magic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D44AE-3269-41F7-907E-177098968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GB" dirty="0"/>
              <a:t>On issue creation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Create a new database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Add article to replication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On commit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Deploy database code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498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22263-0412-436C-BE7A-EF75789E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F1335-4328-4E58-94A0-BDBC5F307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Demo Files available here: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https://github.com/jpomfret/dbatools-githubactions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84F93-9720-C395-CF64-9E16D59AF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" y="4137124"/>
            <a:ext cx="2225040" cy="2225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9711F2-58F2-E725-3C6F-A64F3F74D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630" y="3763744"/>
            <a:ext cx="2301240" cy="2301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C67235-6D11-0AD1-EDB9-69BA4E4F3E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180" y="3763744"/>
            <a:ext cx="2301240" cy="230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10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9ACEE-D10C-0952-C392-3DA5431A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F666-52C5-CAEB-9B08-C918B761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06DA-B970-8F56-40E3-EAB14B75A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6500" dirty="0"/>
              <a:t>Jess Pomfret</a:t>
            </a:r>
            <a:endParaRPr lang="en-US" dirty="0"/>
          </a:p>
          <a:p>
            <a:endParaRPr lang="en-US" sz="1700" b="1" dirty="0"/>
          </a:p>
          <a:p>
            <a:r>
              <a:rPr lang="en-US" dirty="0">
                <a:hlinkClick r:id="rId3"/>
              </a:rPr>
              <a:t>jpomfret7@gmail.com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jesspomfret.com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linkedin.com/in/</a:t>
            </a:r>
            <a:r>
              <a:rPr lang="en-US" dirty="0" err="1"/>
              <a:t>jpomfret</a:t>
            </a:r>
            <a:r>
              <a:rPr lang="en-US" dirty="0"/>
              <a:t>/</a:t>
            </a:r>
          </a:p>
          <a:p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jpomfret</a:t>
            </a:r>
            <a:endParaRPr lang="en-US" dirty="0"/>
          </a:p>
          <a:p>
            <a:endParaRPr lang="en-US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D617A0-C2C2-A930-299E-E317DE9A2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34" y="4221290"/>
            <a:ext cx="818650" cy="81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logo - minimal Octocat">
            <a:extLst>
              <a:ext uri="{FF2B5EF4-FFF2-40B4-BE49-F238E27FC236}">
                <a16:creationId xmlns:a16="http://schemas.microsoft.com/office/drawing/2014/main" id="{D938290E-2487-5039-DDA1-E27A9A85E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07" y="5225141"/>
            <a:ext cx="818650" cy="81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0">
            <a:extLst>
              <a:ext uri="{FF2B5EF4-FFF2-40B4-BE49-F238E27FC236}">
                <a16:creationId xmlns:a16="http://schemas.microsoft.com/office/drawing/2014/main" id="{02BFF943-3657-0F1B-528E-B4D98B996C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6E5BDB-D440-B690-9252-B20263D11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34" y="3084267"/>
            <a:ext cx="818650" cy="818650"/>
          </a:xfrm>
          <a:prstGeom prst="rect">
            <a:avLst/>
          </a:prstGeom>
        </p:spPr>
      </p:pic>
      <p:pic>
        <p:nvPicPr>
          <p:cNvPr id="1036" name="Picture 12" descr="Email Logo Images – Browse 146,199 Stock Photos, Vectors ...">
            <a:extLst>
              <a:ext uri="{FF2B5EF4-FFF2-40B4-BE49-F238E27FC236}">
                <a16:creationId xmlns:a16="http://schemas.microsoft.com/office/drawing/2014/main" id="{6307082D-08ED-9119-7819-625C121C7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53" y="1947244"/>
            <a:ext cx="884731" cy="88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B7596FA7-361B-2016-3DEE-DB23E39CC1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416" y="1947244"/>
            <a:ext cx="4291584" cy="42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85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ess Pomfret">
      <a:dk1>
        <a:srgbClr val="191919"/>
      </a:dk1>
      <a:lt1>
        <a:sysClr val="window" lastClr="FFFFFF"/>
      </a:lt1>
      <a:dk2>
        <a:srgbClr val="032E35"/>
      </a:dk2>
      <a:lt2>
        <a:srgbClr val="E7E6E6"/>
      </a:lt2>
      <a:accent1>
        <a:srgbClr val="0BABC4"/>
      </a:accent1>
      <a:accent2>
        <a:srgbClr val="F18F01"/>
      </a:accent2>
      <a:accent3>
        <a:srgbClr val="A5A5A5"/>
      </a:accent3>
      <a:accent4>
        <a:srgbClr val="A6D0D8"/>
      </a:accent4>
      <a:accent5>
        <a:srgbClr val="065F6D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ssPomfret.potx" id="{47E2BDE3-048A-4A0F-B2D4-31338A3E2199}" vid="{95A6CAB1-C75B-4AC1-A6FA-0FD986B8EA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544</Words>
  <Application>Microsoft Office PowerPoint</Application>
  <PresentationFormat>Widescreen</PresentationFormat>
  <Paragraphs>127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Consolas</vt:lpstr>
      <vt:lpstr>IBM Plex Sans</vt:lpstr>
      <vt:lpstr>Kanit Light</vt:lpstr>
      <vt:lpstr>Kanit SemiBold</vt:lpstr>
      <vt:lpstr>Roboto</vt:lpstr>
      <vt:lpstr>Office Theme</vt:lpstr>
      <vt:lpstr>PowerPoint Presentation</vt:lpstr>
      <vt:lpstr>SQL Server Automation with PowerShell, dbatools and GitHub Actions</vt:lpstr>
      <vt:lpstr>Jess Pomfret (She/Her)</vt:lpstr>
      <vt:lpstr>What’s the plan?</vt:lpstr>
      <vt:lpstr>GitHub Actions</vt:lpstr>
      <vt:lpstr>GitHub Actions</vt:lpstr>
      <vt:lpstr>Azure DevOps Pipelines</vt:lpstr>
      <vt:lpstr>GitHub Actions use cases</vt:lpstr>
      <vt:lpstr>PowerPoint Presentation</vt:lpstr>
      <vt:lpstr>Demo Time – Our first GitHub Action!</vt:lpstr>
      <vt:lpstr>dbatools</vt:lpstr>
      <vt:lpstr>It’s like a command line  SQL Server Management Studio  If you can do it in SSMS – you can do it in dbatools*  *mostly</vt:lpstr>
      <vt:lpstr>Get Database Info for User Database on Sql1</vt:lpstr>
      <vt:lpstr>Get Database Info for User Database on Sql1</vt:lpstr>
      <vt:lpstr>Backup a database on Sql1</vt:lpstr>
      <vt:lpstr>Get SQL Agent jobs on Sql1</vt:lpstr>
      <vt:lpstr>Get Database Name and AutoShrink status on Sql1, Sql2 and Sql3</vt:lpstr>
      <vt:lpstr>Get Database Name and AutoShrink status on Sql1, Sql2 and Sql3</vt:lpstr>
      <vt:lpstr>PowerPoint Presentation</vt:lpstr>
      <vt:lpstr>Demo Time – dbatools Magic</vt:lpstr>
      <vt:lpstr>GitHub Actions &amp; dbatools</vt:lpstr>
      <vt:lpstr>GitHub Actions - Runners</vt:lpstr>
      <vt:lpstr>Install a Self-Hosted Runner</vt:lpstr>
      <vt:lpstr>PowerPoint Presentation</vt:lpstr>
      <vt:lpstr>PowerPoint Presentation</vt:lpstr>
      <vt:lpstr>Demo Time – extra magic</vt:lpstr>
      <vt:lpstr>Demo Time</vt:lpstr>
      <vt:lpstr>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dc:creator>Andy Mallon</dc:creator>
  <cp:lastModifiedBy>Jess Pomfret</cp:lastModifiedBy>
  <cp:revision>30</cp:revision>
  <cp:lastPrinted>2026-04-13T15:31:53Z</cp:lastPrinted>
  <dcterms:created xsi:type="dcterms:W3CDTF">2019-02-14T03:37:16Z</dcterms:created>
  <dcterms:modified xsi:type="dcterms:W3CDTF">2026-04-13T15:33:53Z</dcterms:modified>
</cp:coreProperties>
</file>