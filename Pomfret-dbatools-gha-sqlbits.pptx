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8"/>
  </p:notesMasterIdLst>
  <p:sldIdLst>
    <p:sldId id="730" r:id="rId2"/>
    <p:sldId id="308" r:id="rId3"/>
    <p:sldId id="737" r:id="rId4"/>
    <p:sldId id="723" r:id="rId5"/>
    <p:sldId id="688" r:id="rId6"/>
    <p:sldId id="717" r:id="rId7"/>
    <p:sldId id="716" r:id="rId8"/>
    <p:sldId id="684" r:id="rId9"/>
    <p:sldId id="685" r:id="rId10"/>
    <p:sldId id="686" r:id="rId11"/>
    <p:sldId id="718" r:id="rId12"/>
    <p:sldId id="615" r:id="rId13"/>
    <p:sldId id="721" r:id="rId14"/>
    <p:sldId id="309" r:id="rId15"/>
    <p:sldId id="656" r:id="rId16"/>
    <p:sldId id="693" r:id="rId17"/>
    <p:sldId id="691" r:id="rId18"/>
    <p:sldId id="689" r:id="rId19"/>
    <p:sldId id="692" r:id="rId20"/>
    <p:sldId id="724" r:id="rId21"/>
    <p:sldId id="725" r:id="rId22"/>
    <p:sldId id="731" r:id="rId23"/>
    <p:sldId id="732" r:id="rId24"/>
    <p:sldId id="740" r:id="rId25"/>
    <p:sldId id="733" r:id="rId26"/>
    <p:sldId id="738" r:id="rId27"/>
    <p:sldId id="741" r:id="rId28"/>
    <p:sldId id="735" r:id="rId29"/>
    <p:sldId id="739" r:id="rId30"/>
    <p:sldId id="301" r:id="rId31"/>
    <p:sldId id="307" r:id="rId32"/>
    <p:sldId id="256" r:id="rId33"/>
    <p:sldId id="265" r:id="rId34"/>
    <p:sldId id="727" r:id="rId35"/>
    <p:sldId id="728" r:id="rId36"/>
    <p:sldId id="72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A14036-783A-4999-BC54-A7A6E6FD3079}">
          <p14:sldIdLst>
            <p14:sldId id="730"/>
            <p14:sldId id="308"/>
            <p14:sldId id="737"/>
          </p14:sldIdLst>
        </p14:section>
        <p14:section name="dbatools" id="{C5A1CE2C-D348-4933-ADFF-E970351AE60C}">
          <p14:sldIdLst>
            <p14:sldId id="723"/>
            <p14:sldId id="688"/>
            <p14:sldId id="717"/>
            <p14:sldId id="716"/>
            <p14:sldId id="684"/>
            <p14:sldId id="685"/>
            <p14:sldId id="686"/>
            <p14:sldId id="718"/>
            <p14:sldId id="615"/>
            <p14:sldId id="721"/>
          </p14:sldIdLst>
        </p14:section>
        <p14:section name="GHA" id="{39E57562-1160-4F4E-B7E5-FC1470EE1A4F}">
          <p14:sldIdLst>
            <p14:sldId id="309"/>
            <p14:sldId id="656"/>
            <p14:sldId id="693"/>
            <p14:sldId id="691"/>
            <p14:sldId id="689"/>
            <p14:sldId id="692"/>
          </p14:sldIdLst>
        </p14:section>
        <p14:section name="GHA Advanced" id="{3D37D2EA-412A-48AF-B81E-8A7D09CBF5B2}">
          <p14:sldIdLst>
            <p14:sldId id="724"/>
            <p14:sldId id="725"/>
            <p14:sldId id="731"/>
            <p14:sldId id="732"/>
            <p14:sldId id="740"/>
            <p14:sldId id="733"/>
            <p14:sldId id="738"/>
            <p14:sldId id="741"/>
            <p14:sldId id="735"/>
            <p14:sldId id="739"/>
            <p14:sldId id="301"/>
          </p14:sldIdLst>
        </p14:section>
        <p14:section name="end" id="{52048020-5D52-4115-8596-5737F96A675F}">
          <p14:sldIdLst>
            <p14:sldId id="307"/>
          </p14:sldIdLst>
        </p14:section>
        <p14:section name="archive" id="{17708A52-74E0-4ECB-B048-CEEE44C62DA7}">
          <p14:sldIdLst>
            <p14:sldId id="256"/>
            <p14:sldId id="265"/>
            <p14:sldId id="727"/>
            <p14:sldId id="728"/>
            <p14:sldId id="7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06949-A878-488E-B6E1-1733AD5F5E5F}" v="246" dt="2026-04-19T15:00:24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68016" autoAdjust="0"/>
  </p:normalViewPr>
  <p:slideViewPr>
    <p:cSldViewPr snapToGrid="0">
      <p:cViewPr>
        <p:scale>
          <a:sx n="75" d="100"/>
          <a:sy n="75" d="100"/>
        </p:scale>
        <p:origin x="1646" y="48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ABE36D-D464-4A83-BADB-C175A8EF905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D8E2BAB-CCB9-4DB4-B73C-3C2723DAD41A}">
      <dgm:prSet phldrT="[Text]" phldr="0" custT="1"/>
      <dgm:spPr/>
      <dgm:t>
        <a:bodyPr/>
        <a:lstStyle/>
        <a:p>
          <a:r>
            <a:rPr lang="en-GB" sz="5400" dirty="0"/>
            <a:t>Mark Stale Issues</a:t>
          </a:r>
        </a:p>
      </dgm:t>
    </dgm:pt>
    <dgm:pt modelId="{7456F068-D8AB-4D12-A8E5-254E29685609}" type="parTrans" cxnId="{BE4CFB18-56F3-4F76-8BB1-749D8E0811F5}">
      <dgm:prSet/>
      <dgm:spPr/>
      <dgm:t>
        <a:bodyPr/>
        <a:lstStyle/>
        <a:p>
          <a:endParaRPr lang="en-GB"/>
        </a:p>
      </dgm:t>
    </dgm:pt>
    <dgm:pt modelId="{7E046367-27A8-491B-A6DA-0FEA32374DAF}" type="sibTrans" cxnId="{BE4CFB18-56F3-4F76-8BB1-749D8E0811F5}">
      <dgm:prSet/>
      <dgm:spPr/>
      <dgm:t>
        <a:bodyPr/>
        <a:lstStyle/>
        <a:p>
          <a:endParaRPr lang="en-GB"/>
        </a:p>
      </dgm:t>
    </dgm:pt>
    <dgm:pt modelId="{4C15A2D0-88AC-4AE6-824B-EF08B148B4E3}">
      <dgm:prSet phldrT="[Text]" phldr="0" custT="1"/>
      <dgm:spPr/>
      <dgm:t>
        <a:bodyPr/>
        <a:lstStyle/>
        <a:p>
          <a:r>
            <a:rPr lang="en-GB" sz="5400" dirty="0"/>
            <a:t>AI Summaries</a:t>
          </a:r>
        </a:p>
      </dgm:t>
    </dgm:pt>
    <dgm:pt modelId="{FAFB4319-9CBF-4D77-A60C-16029AAFA03A}" type="parTrans" cxnId="{CA5205D5-C817-4A90-B02D-9A136F68B0B5}">
      <dgm:prSet/>
      <dgm:spPr/>
      <dgm:t>
        <a:bodyPr/>
        <a:lstStyle/>
        <a:p>
          <a:endParaRPr lang="en-GB"/>
        </a:p>
      </dgm:t>
    </dgm:pt>
    <dgm:pt modelId="{B840CE3C-BD33-46FB-A182-EEE703A3F56F}" type="sibTrans" cxnId="{CA5205D5-C817-4A90-B02D-9A136F68B0B5}">
      <dgm:prSet/>
      <dgm:spPr/>
      <dgm:t>
        <a:bodyPr/>
        <a:lstStyle/>
        <a:p>
          <a:endParaRPr lang="en-GB"/>
        </a:p>
      </dgm:t>
    </dgm:pt>
    <dgm:pt modelId="{EB0E6E86-3970-43CF-9D5F-6852CF105ADF}" type="pres">
      <dgm:prSet presAssocID="{1DABE36D-D464-4A83-BADB-C175A8EF9059}" presName="diagram" presStyleCnt="0">
        <dgm:presLayoutVars>
          <dgm:dir/>
          <dgm:resizeHandles val="exact"/>
        </dgm:presLayoutVars>
      </dgm:prSet>
      <dgm:spPr/>
    </dgm:pt>
    <dgm:pt modelId="{1E834D01-FC33-4BB4-9397-5A059A8C5C86}" type="pres">
      <dgm:prSet presAssocID="{9D8E2BAB-CCB9-4DB4-B73C-3C2723DAD41A}" presName="node" presStyleLbl="node1" presStyleIdx="0" presStyleCnt="2">
        <dgm:presLayoutVars>
          <dgm:bulletEnabled val="1"/>
        </dgm:presLayoutVars>
      </dgm:prSet>
      <dgm:spPr/>
    </dgm:pt>
    <dgm:pt modelId="{E2FEBBAE-28C4-4FF8-8105-C65D11F897F3}" type="pres">
      <dgm:prSet presAssocID="{7E046367-27A8-491B-A6DA-0FEA32374DAF}" presName="sibTrans" presStyleCnt="0"/>
      <dgm:spPr/>
    </dgm:pt>
    <dgm:pt modelId="{966CC34C-295F-4F73-B51E-B21D688FAD82}" type="pres">
      <dgm:prSet presAssocID="{4C15A2D0-88AC-4AE6-824B-EF08B148B4E3}" presName="node" presStyleLbl="node1" presStyleIdx="1" presStyleCnt="2">
        <dgm:presLayoutVars>
          <dgm:bulletEnabled val="1"/>
        </dgm:presLayoutVars>
      </dgm:prSet>
      <dgm:spPr/>
    </dgm:pt>
  </dgm:ptLst>
  <dgm:cxnLst>
    <dgm:cxn modelId="{15490407-57AA-4C94-8372-F5CDBD1D69E9}" type="presOf" srcId="{9D8E2BAB-CCB9-4DB4-B73C-3C2723DAD41A}" destId="{1E834D01-FC33-4BB4-9397-5A059A8C5C86}" srcOrd="0" destOrd="0" presId="urn:microsoft.com/office/officeart/2005/8/layout/default"/>
    <dgm:cxn modelId="{BE4CFB18-56F3-4F76-8BB1-749D8E0811F5}" srcId="{1DABE36D-D464-4A83-BADB-C175A8EF9059}" destId="{9D8E2BAB-CCB9-4DB4-B73C-3C2723DAD41A}" srcOrd="0" destOrd="0" parTransId="{7456F068-D8AB-4D12-A8E5-254E29685609}" sibTransId="{7E046367-27A8-491B-A6DA-0FEA32374DAF}"/>
    <dgm:cxn modelId="{00FEB475-8983-4ACE-919E-795A588E87F2}" type="presOf" srcId="{1DABE36D-D464-4A83-BADB-C175A8EF9059}" destId="{EB0E6E86-3970-43CF-9D5F-6852CF105ADF}" srcOrd="0" destOrd="0" presId="urn:microsoft.com/office/officeart/2005/8/layout/default"/>
    <dgm:cxn modelId="{0003619F-0D37-4411-A1B2-C5FC9FDEE28F}" type="presOf" srcId="{4C15A2D0-88AC-4AE6-824B-EF08B148B4E3}" destId="{966CC34C-295F-4F73-B51E-B21D688FAD82}" srcOrd="0" destOrd="0" presId="urn:microsoft.com/office/officeart/2005/8/layout/default"/>
    <dgm:cxn modelId="{CA5205D5-C817-4A90-B02D-9A136F68B0B5}" srcId="{1DABE36D-D464-4A83-BADB-C175A8EF9059}" destId="{4C15A2D0-88AC-4AE6-824B-EF08B148B4E3}" srcOrd="1" destOrd="0" parTransId="{FAFB4319-9CBF-4D77-A60C-16029AAFA03A}" sibTransId="{B840CE3C-BD33-46FB-A182-EEE703A3F56F}"/>
    <dgm:cxn modelId="{80CDD84F-5788-4CBE-BB5E-9479BE35C7D9}" type="presParOf" srcId="{EB0E6E86-3970-43CF-9D5F-6852CF105ADF}" destId="{1E834D01-FC33-4BB4-9397-5A059A8C5C86}" srcOrd="0" destOrd="0" presId="urn:microsoft.com/office/officeart/2005/8/layout/default"/>
    <dgm:cxn modelId="{6251DF09-D25B-433D-A2CC-22F5A59DF8D5}" type="presParOf" srcId="{EB0E6E86-3970-43CF-9D5F-6852CF105ADF}" destId="{E2FEBBAE-28C4-4FF8-8105-C65D11F897F3}" srcOrd="1" destOrd="0" presId="urn:microsoft.com/office/officeart/2005/8/layout/default"/>
    <dgm:cxn modelId="{77827854-0D6A-4D8A-ABE1-F3601041774E}" type="presParOf" srcId="{EB0E6E86-3970-43CF-9D5F-6852CF105ADF}" destId="{966CC34C-295F-4F73-B51E-B21D688FAD8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34D01-FC33-4BB4-9397-5A059A8C5C86}">
      <dsp:nvSpPr>
        <dsp:cNvPr id="0" name=""/>
        <dsp:cNvSpPr/>
      </dsp:nvSpPr>
      <dsp:spPr>
        <a:xfrm>
          <a:off x="1137" y="1145126"/>
          <a:ext cx="4437868" cy="26627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400" kern="1200" dirty="0"/>
            <a:t>Mark Stale Issues</a:t>
          </a:r>
        </a:p>
      </dsp:txBody>
      <dsp:txXfrm>
        <a:off x="1137" y="1145126"/>
        <a:ext cx="4437868" cy="2662721"/>
      </dsp:txXfrm>
    </dsp:sp>
    <dsp:sp modelId="{966CC34C-295F-4F73-B51E-B21D688FAD82}">
      <dsp:nvSpPr>
        <dsp:cNvPr id="0" name=""/>
        <dsp:cNvSpPr/>
      </dsp:nvSpPr>
      <dsp:spPr>
        <a:xfrm>
          <a:off x="4882793" y="1145126"/>
          <a:ext cx="4437868" cy="26627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400" kern="1200" dirty="0"/>
            <a:t>AI Summaries</a:t>
          </a:r>
        </a:p>
      </dsp:txBody>
      <dsp:txXfrm>
        <a:off x="4882793" y="1145126"/>
        <a:ext cx="4437868" cy="2662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C9BAC-5605-4961-A752-FD19D2B395B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8DEC1-F2AB-4DD2-8E1F-AE80EFAA4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A889-5ADE-CA61-590B-09FB9BC8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53AFE-01DF-0B13-378D-F92E38263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C0FBA-078F-2078-C909-B6BAE9240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BB64A-DC9D-2482-2A17-0CF684307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3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Li instructor?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88DEC1-F2AB-4DD2-8E1F-AE80EFAA40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7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0C50-78EA-E0D4-1232-AFCEF22C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4751B-60C2-C523-4F52-184EE78AE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CC69E-6A12-0291-580D-99B95D3F0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3C7A5-715E-C06A-5BA7-2A06D3F8B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39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1004</a:t>
            </a:r>
          </a:p>
        </p:txBody>
      </p:sp>
    </p:spTree>
    <p:extLst>
      <p:ext uri="{BB962C8B-B14F-4D97-AF65-F5344CB8AC3E}">
        <p14:creationId xmlns:p14="http://schemas.microsoft.com/office/powerpoint/2010/main" val="3122969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78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Right click database &gt; tasks &gt; backup</a:t>
            </a:r>
          </a:p>
        </p:txBody>
      </p:sp>
    </p:spTree>
    <p:extLst>
      <p:ext uri="{BB962C8B-B14F-4D97-AF65-F5344CB8AC3E}">
        <p14:creationId xmlns:p14="http://schemas.microsoft.com/office/powerpoint/2010/main" val="3520927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699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628B-E01A-99FE-C3C4-F7752EA8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B5B71-CA86-3211-7655-5C975541E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335EF-C905-3FA0-A275-7E2561A9F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07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CHANGE THIS SLIDE it’s old </a:t>
            </a:r>
            <a:r>
              <a:rPr lang="en-GB" dirty="0" err="1"/>
              <a:t>webstite</a:t>
            </a:r>
            <a:endParaRPr lang="en-GB" dirty="0"/>
          </a:p>
          <a:p>
            <a:endParaRPr lang="en-GB" dirty="0"/>
          </a:p>
          <a:p>
            <a:r>
              <a:rPr lang="en-GB" dirty="0"/>
              <a:t>Talk about new site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D6275-D5B4-459A-B2A3-212CA60D230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86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1009</a:t>
            </a:r>
          </a:p>
        </p:txBody>
      </p:sp>
    </p:spTree>
    <p:extLst>
      <p:ext uri="{BB962C8B-B14F-4D97-AF65-F5344CB8AC3E}">
        <p14:creationId xmlns:p14="http://schemas.microsoft.com/office/powerpoint/2010/main" val="3886949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51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Who’s already using GitHub Actions?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1735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It’s the same</a:t>
            </a:r>
          </a:p>
          <a:p>
            <a:r>
              <a:rPr lang="en-GB"/>
              <a:t>There are other options too, these are the main two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30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714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Point out schedule runs</a:t>
            </a:r>
          </a:p>
          <a:p>
            <a:r>
              <a:rPr lang="en-GB" dirty="0"/>
              <a:t>Manually triggered runs</a:t>
            </a:r>
          </a:p>
          <a:p>
            <a:r>
              <a:rPr lang="en-GB" dirty="0"/>
              <a:t>One that was cancelled</a:t>
            </a:r>
          </a:p>
        </p:txBody>
      </p:sp>
    </p:spTree>
    <p:extLst>
      <p:ext uri="{BB962C8B-B14F-4D97-AF65-F5344CB8AC3E}">
        <p14:creationId xmlns:p14="http://schemas.microsoft.com/office/powerpoint/2010/main" val="837638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1442</a:t>
            </a:r>
          </a:p>
        </p:txBody>
      </p:sp>
    </p:spTree>
    <p:extLst>
      <p:ext uri="{BB962C8B-B14F-4D97-AF65-F5344CB8AC3E}">
        <p14:creationId xmlns:p14="http://schemas.microsoft.com/office/powerpoint/2010/main" val="2161208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1030</a:t>
            </a:r>
          </a:p>
        </p:txBody>
      </p:sp>
    </p:spTree>
    <p:extLst>
      <p:ext uri="{BB962C8B-B14F-4D97-AF65-F5344CB8AC3E}">
        <p14:creationId xmlns:p14="http://schemas.microsoft.com/office/powerpoint/2010/main" val="2364934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GitHub Hosted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usage is free for standard GitHub-hosted runners in public repositories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Series of types you can choose – windows,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different versions</a:t>
            </a:r>
            <a:endParaRPr lang="en-GB" dirty="0"/>
          </a:p>
          <a:p>
            <a:endParaRPr lang="en-GB" dirty="0"/>
          </a:p>
          <a:p>
            <a:r>
              <a:rPr lang="en-GB" dirty="0"/>
              <a:t>Self-hosted</a:t>
            </a:r>
          </a:p>
          <a:p>
            <a:pPr marL="171450" indent="-171450">
              <a:buFontTx/>
              <a:buChar char="-"/>
            </a:pPr>
            <a:r>
              <a:rPr lang="en-GB" dirty="0"/>
              <a:t>More control</a:t>
            </a:r>
          </a:p>
          <a:p>
            <a:pPr marL="171450" indent="-171450">
              <a:buFontTx/>
              <a:buChar char="-"/>
            </a:pPr>
            <a:r>
              <a:rPr lang="en-GB" dirty="0"/>
              <a:t>Free to use (for now!)</a:t>
            </a:r>
          </a:p>
          <a:p>
            <a:pPr marL="171450" indent="-171450">
              <a:buFontTx/>
              <a:buChar char="-"/>
            </a:pPr>
            <a:r>
              <a:rPr lang="en-GB" dirty="0"/>
              <a:t>Inside your network so access to things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0" indent="0">
              <a:buFontTx/>
              <a:buNone/>
            </a:pPr>
            <a:endParaRPr lang="en-GB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Note – if you swap your repo to be public you need to change a setting that allows your self-hosted runner to run – otherwise it sits there waiting for jobs, and your actions sit there waiting for runners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897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Workflow – top level – the whole process</a:t>
            </a:r>
          </a:p>
          <a:p>
            <a:r>
              <a:rPr lang="en-GB" dirty="0"/>
              <a:t>That workflow can contain one or many jobs</a:t>
            </a:r>
          </a:p>
          <a:p>
            <a:r>
              <a:rPr lang="en-GB" dirty="0"/>
              <a:t>Jobs can run in parallel or in sequential order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75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Job has one or many steps – executed in order</a:t>
            </a:r>
          </a:p>
          <a:p>
            <a:r>
              <a:rPr lang="en-GB" dirty="0"/>
              <a:t>Each step runs an action – or script</a:t>
            </a:r>
          </a:p>
          <a:p>
            <a:endParaRPr lang="en-GB" dirty="0"/>
          </a:p>
          <a:p>
            <a:r>
              <a:rPr lang="en-GB" dirty="0"/>
              <a:t>These actions can be from the marketplace – or home built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28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Variables – use these to control actions – pass in configuration data so it’s not hardcoded in your scripts</a:t>
            </a:r>
          </a:p>
          <a:p>
            <a:endParaRPr lang="en-GB" dirty="0"/>
          </a:p>
          <a:p>
            <a:r>
              <a:rPr lang="en-GB" dirty="0"/>
              <a:t>Secrets – encrypted – once it’s saved you can no longer view it</a:t>
            </a:r>
          </a:p>
          <a:p>
            <a:r>
              <a:rPr lang="en-GB" dirty="0"/>
              <a:t>Name your secrets sensibly</a:t>
            </a:r>
          </a:p>
          <a:p>
            <a:endParaRPr lang="en-GB" dirty="0"/>
          </a:p>
          <a:p>
            <a:r>
              <a:rPr lang="en-GB" dirty="0"/>
              <a:t>More specific secret\variable wins – so if you have Organisation and Repo the repo secret is used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84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Environments can be referenced by jobs</a:t>
            </a:r>
          </a:p>
          <a:p>
            <a:r>
              <a:rPr lang="en-GB" dirty="0"/>
              <a:t>Add protection rules to these to protect them</a:t>
            </a:r>
          </a:p>
          <a:p>
            <a:endParaRPr lang="en-GB" dirty="0"/>
          </a:p>
          <a:p>
            <a:r>
              <a:rPr lang="en-GB" dirty="0"/>
              <a:t>You can see dev has no protection rules, 1 for test, 2 for prod</a:t>
            </a:r>
          </a:p>
          <a:p>
            <a:endParaRPr lang="en-GB" dirty="0"/>
          </a:p>
          <a:p>
            <a:r>
              <a:rPr lang="en-GB" dirty="0"/>
              <a:t>For example in prod…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584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have a required reviewer</a:t>
            </a:r>
          </a:p>
          <a:p>
            <a:r>
              <a:rPr lang="en-GB" dirty="0"/>
              <a:t>(best not to have it be yourself – hence the block self review button)</a:t>
            </a:r>
          </a:p>
          <a:p>
            <a:endParaRPr lang="en-GB" dirty="0"/>
          </a:p>
          <a:p>
            <a:r>
              <a:rPr lang="en-GB" dirty="0"/>
              <a:t>And this time a timer – a cooling off period as I like to call it </a:t>
            </a:r>
          </a:p>
          <a:p>
            <a:endParaRPr lang="en-GB" dirty="0"/>
          </a:p>
          <a:p>
            <a:r>
              <a:rPr lang="en-GB" dirty="0"/>
              <a:t>When a workflow tries to run a job which is tied to an environment it’ll be blocked until the approval is given – in this case I got an email.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3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1DF-2547-EAFF-F806-E6F64C10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2A373-75EF-5612-82DB-B6B6163C2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E1A54-1BD9-88A2-BC88-B79E03CE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1032</a:t>
            </a:r>
          </a:p>
          <a:p>
            <a:endParaRPr lang="en-GB" dirty="0"/>
          </a:p>
          <a:p>
            <a:r>
              <a:rPr lang="en-GB" dirty="0"/>
              <a:t>Three different actions – this is going to be a lot</a:t>
            </a:r>
          </a:p>
          <a:p>
            <a:r>
              <a:rPr lang="en-GB" dirty="0"/>
              <a:t>But I wanted to build something you could take away and use</a:t>
            </a:r>
          </a:p>
          <a:p>
            <a:r>
              <a:rPr lang="en-GB" dirty="0"/>
              <a:t>This demo will show you what we have and show you how it works – we won’t dig into all the specifics</a:t>
            </a:r>
          </a:p>
          <a:p>
            <a:endParaRPr lang="en-GB" dirty="0"/>
          </a:p>
          <a:p>
            <a:pPr marL="228600" indent="-228600">
              <a:buAutoNum type="arabicPeriod"/>
            </a:pPr>
            <a:r>
              <a:rPr lang="en-GB" dirty="0"/>
              <a:t>Folder of terraform files in a git repo – pushed to GitHub – Triggers on commit of specific files </a:t>
            </a:r>
            <a:r>
              <a:rPr lang="en-GB" dirty="0">
                <a:sym typeface="Wingdings" panose="05000000000000000000" pitchFamily="2" charset="2"/>
              </a:rPr>
              <a:t> deploying Azure Infrastructure</a:t>
            </a:r>
          </a:p>
          <a:p>
            <a:pPr marL="228600" indent="-228600">
              <a:buAutoNum type="arabicPeriod"/>
            </a:pPr>
            <a:r>
              <a:rPr lang="en-GB" dirty="0"/>
              <a:t>SQL Project in a git repo </a:t>
            </a:r>
            <a:r>
              <a:rPr lang="en-GB" dirty="0">
                <a:sym typeface="Wingdings" panose="05000000000000000000" pitchFamily="2" charset="2"/>
              </a:rPr>
              <a:t> push to GitHub  Trigger on specific files  Deploy Database Changes</a:t>
            </a:r>
          </a:p>
          <a:p>
            <a:pPr marL="228600" indent="-228600">
              <a:buAutoNum type="arabicPeriod"/>
            </a:pPr>
            <a:r>
              <a:rPr lang="en-GB" dirty="0">
                <a:sym typeface="Wingdings" panose="05000000000000000000" pitchFamily="2" charset="2"/>
              </a:rPr>
              <a:t>Create an issue in GitHub for a new database  GitHub Action to create database &amp; optionally deploy SQL package</a:t>
            </a:r>
          </a:p>
          <a:p>
            <a:pPr marL="228600" indent="-228600">
              <a:buAutoNum type="arabicPeriod"/>
            </a:pPr>
            <a:endParaRPr lang="en-GB" dirty="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963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5DB4-537A-2896-3CB6-E0982C75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3F251-19AD-CA0B-7C7E-CCCDDAA4B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7827D-D3D6-C5CC-5862-6FE7AF101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1032</a:t>
            </a:r>
          </a:p>
          <a:p>
            <a:endParaRPr lang="en-GB" dirty="0"/>
          </a:p>
          <a:p>
            <a:r>
              <a:rPr lang="en-GB" dirty="0"/>
              <a:t>Three different actions – this is going to be a lot</a:t>
            </a:r>
          </a:p>
          <a:p>
            <a:r>
              <a:rPr lang="en-GB" dirty="0"/>
              <a:t>But I wanted to build something you could take away and use</a:t>
            </a:r>
          </a:p>
          <a:p>
            <a:r>
              <a:rPr lang="en-GB" dirty="0"/>
              <a:t>This demo will show you what we have and show you how it works – we won’t dig into all the specifics</a:t>
            </a:r>
          </a:p>
          <a:p>
            <a:endParaRPr lang="en-GB" dirty="0"/>
          </a:p>
          <a:p>
            <a:pPr marL="228600" indent="-228600">
              <a:buAutoNum type="arabicPeriod"/>
            </a:pPr>
            <a:r>
              <a:rPr lang="en-GB" dirty="0"/>
              <a:t>Folder of terraform files in a git repo – pushed to GitHub – Triggers on commit of specific files </a:t>
            </a:r>
            <a:r>
              <a:rPr lang="en-GB" dirty="0">
                <a:sym typeface="Wingdings" panose="05000000000000000000" pitchFamily="2" charset="2"/>
              </a:rPr>
              <a:t> deploying Azure Infrastructure</a:t>
            </a:r>
          </a:p>
          <a:p>
            <a:pPr marL="228600" indent="-228600">
              <a:buAutoNum type="arabicPeriod"/>
            </a:pPr>
            <a:r>
              <a:rPr lang="en-GB" dirty="0"/>
              <a:t>SQL Package in a git repo </a:t>
            </a:r>
            <a:r>
              <a:rPr lang="en-GB" dirty="0">
                <a:sym typeface="Wingdings" panose="05000000000000000000" pitchFamily="2" charset="2"/>
              </a:rPr>
              <a:t> push to GitHub  Trigger on specific files  Deploy Database Changes</a:t>
            </a:r>
          </a:p>
          <a:p>
            <a:pPr marL="228600" indent="-228600">
              <a:buAutoNum type="arabicPeriod"/>
            </a:pPr>
            <a:r>
              <a:rPr lang="en-GB" dirty="0">
                <a:sym typeface="Wingdings" panose="05000000000000000000" pitchFamily="2" charset="2"/>
              </a:rPr>
              <a:t>Create an issue in GitHub for a new database  GitHub Action to create database &amp; optionally deploy SQL package</a:t>
            </a:r>
          </a:p>
          <a:p>
            <a:pPr marL="228600" indent="-228600">
              <a:buAutoNum type="arabicPeriod"/>
            </a:pPr>
            <a:endParaRPr lang="en-GB" dirty="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602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1047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0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6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74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8DEC1-F2AB-4DD2-8E1F-AE80EFAA403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1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963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902B49-72A0-4C63-9A61-7914659C9CBD}"/>
              </a:ext>
            </a:extLst>
          </p:cNvPr>
          <p:cNvSpPr/>
          <p:nvPr userDrawn="1"/>
        </p:nvSpPr>
        <p:spPr>
          <a:xfrm>
            <a:off x="0" y="1"/>
            <a:ext cx="12192000" cy="44775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98" y="148324"/>
            <a:ext cx="11266004" cy="2387600"/>
          </a:xfrm>
        </p:spPr>
        <p:txBody>
          <a:bodyPr anchor="b">
            <a:normAutofit/>
          </a:bodyPr>
          <a:lstStyle>
            <a:lvl1pPr algn="ctr">
              <a:defRPr sz="7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98" y="2627999"/>
            <a:ext cx="11266004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E4732-EC9F-4EF0-9FFA-B4FE35EF00D0}"/>
              </a:ext>
            </a:extLst>
          </p:cNvPr>
          <p:cNvSpPr/>
          <p:nvPr userDrawn="1"/>
        </p:nvSpPr>
        <p:spPr>
          <a:xfrm>
            <a:off x="0" y="4569653"/>
            <a:ext cx="12192000" cy="10492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0B37F-AD62-4FD2-866A-996870575303}"/>
              </a:ext>
            </a:extLst>
          </p:cNvPr>
          <p:cNvSpPr txBox="1"/>
          <p:nvPr userDrawn="1"/>
        </p:nvSpPr>
        <p:spPr>
          <a:xfrm>
            <a:off x="8567530" y="4678788"/>
            <a:ext cx="3419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>
                <a:solidFill>
                  <a:schemeClr val="tx1"/>
                </a:solidFill>
                <a:latin typeface="+mj-lt"/>
              </a:rPr>
              <a:t>Jess Pomfret</a:t>
            </a:r>
            <a:endParaRPr lang="en-US" sz="3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63E45-9DC8-452D-9B3A-FC5B719D5CC6}"/>
              </a:ext>
            </a:extLst>
          </p:cNvPr>
          <p:cNvSpPr txBox="1"/>
          <p:nvPr userDrawn="1"/>
        </p:nvSpPr>
        <p:spPr>
          <a:xfrm>
            <a:off x="8077200" y="5710996"/>
            <a:ext cx="3909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latin typeface="+mj-lt"/>
              </a:rPr>
              <a:t>jesspomfret.com</a:t>
            </a:r>
          </a:p>
          <a:p>
            <a:pPr algn="r"/>
            <a:r>
              <a:rPr lang="en-US" sz="3200" dirty="0">
                <a:latin typeface="+mj-lt"/>
              </a:rPr>
              <a:t>jpomfret7@gmail.com</a:t>
            </a:r>
          </a:p>
        </p:txBody>
      </p:sp>
    </p:spTree>
    <p:extLst>
      <p:ext uri="{BB962C8B-B14F-4D97-AF65-F5344CB8AC3E}">
        <p14:creationId xmlns:p14="http://schemas.microsoft.com/office/powerpoint/2010/main" val="23722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041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752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544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84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158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321236-9D6B-42BD-A40D-F79303C7B5B1}"/>
              </a:ext>
            </a:extLst>
          </p:cNvPr>
          <p:cNvSpPr/>
          <p:nvPr userDrawn="1"/>
        </p:nvSpPr>
        <p:spPr>
          <a:xfrm>
            <a:off x="0" y="2040006"/>
            <a:ext cx="12192000" cy="27779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40005"/>
            <a:ext cx="10515600" cy="1871043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0623"/>
            <a:ext cx="10515600" cy="83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13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35" y="1003852"/>
            <a:ext cx="11598965" cy="517311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61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53548"/>
            <a:ext cx="5181600" cy="5123415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53548"/>
            <a:ext cx="5181600" cy="5123415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20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90094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64196"/>
            <a:ext cx="5157787" cy="44254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0094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64196"/>
            <a:ext cx="5183188" cy="44254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DAA8C14-E0FE-4A97-BB51-67138CFB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86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426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168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90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AB3BF9-B483-4A5B-88B0-E6D4DB9A0D0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A59B1-0385-485D-A8E8-F9AEDADE7628}"/>
              </a:ext>
            </a:extLst>
          </p:cNvPr>
          <p:cNvSpPr txBox="1"/>
          <p:nvPr userDrawn="1"/>
        </p:nvSpPr>
        <p:spPr>
          <a:xfrm>
            <a:off x="220223" y="6365741"/>
            <a:ext cx="142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@</a:t>
            </a:r>
            <a:r>
              <a:rPr lang="en-US" err="1">
                <a:solidFill>
                  <a:schemeClr val="bg2"/>
                </a:solidFill>
              </a:rPr>
              <a:t>jpomfret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F2C48-004D-4652-B4A5-A2D984F39C8A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98F6E-254A-43F3-87CE-2FD2EBB714AC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</p:spTree>
    <p:extLst>
      <p:ext uri="{BB962C8B-B14F-4D97-AF65-F5344CB8AC3E}">
        <p14:creationId xmlns:p14="http://schemas.microsoft.com/office/powerpoint/2010/main" val="1912084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B1A997-9791-4156-97DF-C8099900C89F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8783"/>
            <a:ext cx="6690760" cy="5662267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329C1-CAB7-4D96-94DE-EFD94A0A79DF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D2D5C-A92B-428B-9CE0-B4990F4EEF7A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B5F8A-0B4E-403E-917E-65006E719095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BDBD6F-0498-49D4-A54B-7410CFDC78EC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3BFCB91-8416-556C-B23B-F46456D8E0FE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6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652A2660-B553-C5F8-FFED-41C95213BA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670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6151D4-DB60-411B-A528-50BAE53F57B2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0309D-55BA-4D22-AAD6-E5A0B50ECF2B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8783"/>
            <a:ext cx="6704010" cy="56622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AEB39-490D-4470-BB4F-F7E09AA2B52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5D492-989E-4C18-9C16-618523FA8F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7EFE7-5B1E-4F40-811D-08FCD8D618D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8A53-4A23-41D0-8BA1-0FA329586176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766BB-530B-4DC7-AD7C-CC8099056C53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E0488E-0427-43E8-BBA5-D99047E5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E8AD4E-3E68-45C9-8E82-47CD85003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BCFCE-7AC5-DF08-B76C-5409937C4E5A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4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AD43F8FB-8D38-7F74-B673-9EAA5BD0C6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242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 S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6151D4-DB60-411B-A528-50BAE53F57B2}"/>
              </a:ext>
            </a:extLst>
          </p:cNvPr>
          <p:cNvSpPr/>
          <p:nvPr userDrawn="1"/>
        </p:nvSpPr>
        <p:spPr>
          <a:xfrm>
            <a:off x="1" y="-3"/>
            <a:ext cx="5054048" cy="6793393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0309D-55BA-4D22-AAD6-E5A0B50ECF2B}"/>
              </a:ext>
            </a:extLst>
          </p:cNvPr>
          <p:cNvCxnSpPr>
            <a:cxnSpLocks/>
          </p:cNvCxnSpPr>
          <p:nvPr userDrawn="1"/>
        </p:nvCxnSpPr>
        <p:spPr>
          <a:xfrm>
            <a:off x="-4788" y="1663485"/>
            <a:ext cx="5058837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7AEB39-490D-4470-BB4F-F7E09AA2B520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5D492-989E-4C18-9C16-618523FA8F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7EFE7-5B1E-4F40-811D-08FCD8D618DD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8A53-4A23-41D0-8BA1-0FA329586176}"/>
              </a:ext>
            </a:extLst>
          </p:cNvPr>
          <p:cNvSpPr txBox="1"/>
          <p:nvPr userDrawn="1"/>
        </p:nvSpPr>
        <p:spPr>
          <a:xfrm>
            <a:off x="5163246" y="6373769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766BB-530B-4DC7-AD7C-CC8099056C53}"/>
              </a:ext>
            </a:extLst>
          </p:cNvPr>
          <p:cNvSpPr txBox="1"/>
          <p:nvPr userDrawn="1"/>
        </p:nvSpPr>
        <p:spPr>
          <a:xfrm>
            <a:off x="8794517" y="6386087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E0488E-0427-43E8-BBA5-D99047E5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3"/>
            <a:ext cx="4453973" cy="140638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E8AD4E-3E68-45C9-8E82-47CD85003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052" y="1791200"/>
            <a:ext cx="4453973" cy="40777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70C734-371E-4649-8734-CF48DB82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98783"/>
            <a:ext cx="6690760" cy="5662267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Consolas" panose="020B0609020204030204" pitchFamily="49" charset="0"/>
              </a:defRPr>
            </a:lvl1pPr>
            <a:lvl2pPr marL="457200" indent="0">
              <a:buNone/>
              <a:defRPr sz="3200">
                <a:latin typeface="Consolas" panose="020B0609020204030204" pitchFamily="49" charset="0"/>
              </a:defRPr>
            </a:lvl2pPr>
            <a:lvl3pPr marL="914400" indent="0">
              <a:buNone/>
              <a:defRPr sz="2800">
                <a:latin typeface="Consolas" panose="020B0609020204030204" pitchFamily="49" charset="0"/>
              </a:defRPr>
            </a:lvl3pPr>
            <a:lvl4pPr marL="1371600" indent="0">
              <a:buNone/>
              <a:defRPr sz="2400">
                <a:latin typeface="Consolas" panose="020B0609020204030204" pitchFamily="49" charset="0"/>
              </a:defRPr>
            </a:lvl4pPr>
            <a:lvl5pPr marL="1828800" indent="0">
              <a:buNone/>
              <a:defRPr sz="2400">
                <a:latin typeface="Consolas" panose="020B060902020403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7D0C9-21B5-8628-F7B4-1FA03DD67549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pic>
        <p:nvPicPr>
          <p:cNvPr id="3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B8550C8E-EF29-DF87-D9D5-1FEB5E85E4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810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04FCEC-84C5-70DC-DA6C-FCD399931B32}"/>
              </a:ext>
            </a:extLst>
          </p:cNvPr>
          <p:cNvSpPr/>
          <p:nvPr userDrawn="1"/>
        </p:nvSpPr>
        <p:spPr>
          <a:xfrm>
            <a:off x="0" y="6120628"/>
            <a:ext cx="12192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76449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solidFill>
                  <a:schemeClr val="bg2"/>
                </a:soli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C08B84-B795-5CBE-2F63-681718804290}"/>
              </a:ext>
            </a:extLst>
          </p:cNvPr>
          <p:cNvSpPr/>
          <p:nvPr userDrawn="1"/>
        </p:nvSpPr>
        <p:spPr>
          <a:xfrm>
            <a:off x="0" y="6053953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35D32A7-2390-96D0-A709-B9AD0BC2A8E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76449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D4FB2-46D4-E3D9-EE03-4CD1EC5169FD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1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1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5437E5-28F1-CC4C-EB89-2B7E59B6A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35302" y="6195812"/>
            <a:ext cx="1911305" cy="58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14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002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solidFill>
                  <a:schemeClr val="bg2"/>
                </a:soli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EE5D93-23C3-3FA0-75B6-A87398EFA7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9002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2EB71-C95F-5ECA-5946-7945530C76A8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2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2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2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963A2F-293C-8101-237E-3DF35EAE9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2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pru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002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EE5D93-23C3-3FA0-75B6-A87398EFA7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9002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2EB71-C95F-5ECA-5946-7945530C76A8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2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2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2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8BDBEB-2C72-038D-FD53-1E37CFAFFD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833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2AF67A-85E3-E541-AF67-CC981D7B6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405257" y="5937644"/>
            <a:ext cx="2454729" cy="7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48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3F5C0C2-DFB8-E862-897F-D37418954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938010" y="1680297"/>
            <a:ext cx="8315979" cy="2249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lnSpc>
                <a:spcPct val="100000"/>
              </a:lnSpc>
              <a:defRPr sz="6000" b="1" i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US" sz="4800"/>
              <a:t>“A very wise and interesting quote from someone great can go in this text box”</a:t>
            </a:r>
            <a:endParaRPr lang="en-US" alt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42D81B-0938-F8C4-8B08-958D01B07BDE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938010" y="4152532"/>
            <a:ext cx="8315979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Kanit Light" pitchFamily="2" charset="-34"/>
                <a:cs typeface="Kanit Light" pitchFamily="2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solidFill>
                  <a:schemeClr val="tx1"/>
                </a:solidFill>
              </a:rPr>
              <a:t>Person or Company Logo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55BFD79-81BE-F9F6-2784-283FC49D6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00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rtual backgrou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8E867D-DCC9-D7A5-00CA-EF3B0D4E50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135302" y="6195812"/>
            <a:ext cx="1911305" cy="58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7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01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94DB54-D790-4AA8-B76F-12468FC8090A}"/>
              </a:ext>
            </a:extLst>
          </p:cNvPr>
          <p:cNvSpPr/>
          <p:nvPr userDrawn="1"/>
        </p:nvSpPr>
        <p:spPr>
          <a:xfrm>
            <a:off x="0" y="-2"/>
            <a:ext cx="12191999" cy="818650"/>
          </a:xfrm>
          <a:prstGeom prst="rect">
            <a:avLst/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CFEF1-B4B8-4A37-9BBD-303992780C1F}"/>
              </a:ext>
            </a:extLst>
          </p:cNvPr>
          <p:cNvSpPr/>
          <p:nvPr userDrawn="1"/>
        </p:nvSpPr>
        <p:spPr>
          <a:xfrm>
            <a:off x="-4788" y="6238027"/>
            <a:ext cx="12196787" cy="624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03852"/>
            <a:ext cx="10515600" cy="5173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087D7-A543-4AEF-841E-ADF2ABA6D880}"/>
              </a:ext>
            </a:extLst>
          </p:cNvPr>
          <p:cNvSpPr txBox="1"/>
          <p:nvPr userDrawn="1"/>
        </p:nvSpPr>
        <p:spPr>
          <a:xfrm>
            <a:off x="517229" y="6378792"/>
            <a:ext cx="21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jpomfret.co.uk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EB95D-4B66-4D75-B9F7-2460E6D4CCB4}"/>
              </a:ext>
            </a:extLst>
          </p:cNvPr>
          <p:cNvSpPr txBox="1"/>
          <p:nvPr userDrawn="1"/>
        </p:nvSpPr>
        <p:spPr>
          <a:xfrm>
            <a:off x="5163246" y="6378792"/>
            <a:ext cx="186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JessPomfret.com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8F19-B5CC-42CB-8C6C-2A23BC391147}"/>
              </a:ext>
            </a:extLst>
          </p:cNvPr>
          <p:cNvSpPr txBox="1"/>
          <p:nvPr userDrawn="1"/>
        </p:nvSpPr>
        <p:spPr>
          <a:xfrm>
            <a:off x="8794517" y="6378792"/>
            <a:ext cx="309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jpomfret7@gmail.com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E67BC9-FD2B-4888-BFF5-E87D9B6ABE7D}"/>
              </a:ext>
            </a:extLst>
          </p:cNvPr>
          <p:cNvCxnSpPr/>
          <p:nvPr userDrawn="1"/>
        </p:nvCxnSpPr>
        <p:spPr>
          <a:xfrm>
            <a:off x="-4788" y="818648"/>
            <a:ext cx="12196788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 simplified silhouette of a butterfly, with two symmetric pairs of wings, colored with a sky-blue gradient">
            <a:extLst>
              <a:ext uri="{FF2B5EF4-FFF2-40B4-BE49-F238E27FC236}">
                <a16:creationId xmlns:a16="http://schemas.microsoft.com/office/drawing/2014/main" id="{F6D99B29-A83E-2645-FA44-95FAC3C98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28" y="6454672"/>
            <a:ext cx="304801" cy="2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10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83" r:id="rId4"/>
    <p:sldLayoutId id="2147483684" r:id="rId5"/>
    <p:sldLayoutId id="2147483685" r:id="rId6"/>
    <p:sldLayoutId id="2147483686" r:id="rId7"/>
    <p:sldLayoutId id="2147483688" r:id="rId8"/>
    <p:sldLayoutId id="2147483675" r:id="rId9"/>
    <p:sldLayoutId id="2147483676" r:id="rId10"/>
    <p:sldLayoutId id="2147483677" r:id="rId11"/>
    <p:sldLayoutId id="2147483678" r:id="rId12"/>
    <p:sldLayoutId id="2147483689" r:id="rId13"/>
    <p:sldLayoutId id="2147483679" r:id="rId14"/>
    <p:sldLayoutId id="2147483680" r:id="rId15"/>
    <p:sldLayoutId id="2147483687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hyperlink" Target="mailto:jpomfret7@gmail.com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9.svg"/><Relationship Id="rId5" Type="http://schemas.openxmlformats.org/officeDocument/2006/relationships/image" Target="../media/image36.png"/><Relationship Id="rId10" Type="http://schemas.openxmlformats.org/officeDocument/2006/relationships/image" Target="../media/image39.svg"/><Relationship Id="rId4" Type="http://schemas.openxmlformats.org/officeDocument/2006/relationships/image" Target="../media/image35.jpeg"/><Relationship Id="rId9" Type="http://schemas.openxmlformats.org/officeDocument/2006/relationships/image" Target="../media/image3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9.svg"/><Relationship Id="rId5" Type="http://schemas.openxmlformats.org/officeDocument/2006/relationships/image" Target="../media/image36.png"/><Relationship Id="rId10" Type="http://schemas.openxmlformats.org/officeDocument/2006/relationships/image" Target="../media/image39.svg"/><Relationship Id="rId4" Type="http://schemas.openxmlformats.org/officeDocument/2006/relationships/image" Target="../media/image35.jpeg"/><Relationship Id="rId9" Type="http://schemas.openxmlformats.org/officeDocument/2006/relationships/image" Target="../media/image3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pomfret/dbatools-githubactions" TargetMode="Externa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hyperlink" Target="https://github.com/marketplace?type=actions" TargetMode="External"/><Relationship Id="rId4" Type="http://schemas.openxmlformats.org/officeDocument/2006/relationships/hyperlink" Target="https://docs.github.com/en/action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mailto:jpomfret7@gmail.com" TargetMode="External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3BD4F-833F-33DB-249E-84B32EE3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4CF2D-F1DF-D8F3-E10F-0EFEF7CBE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71" y="2549012"/>
            <a:ext cx="4673883" cy="46738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2672BC-1CFC-1F9D-97C4-E2344BE95E5D}"/>
              </a:ext>
            </a:extLst>
          </p:cNvPr>
          <p:cNvSpPr/>
          <p:nvPr/>
        </p:nvSpPr>
        <p:spPr>
          <a:xfrm>
            <a:off x="3280449" y="2325329"/>
            <a:ext cx="6050326" cy="545690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GB" sz="6600" dirty="0">
                <a:solidFill>
                  <a:schemeClr val="bg1"/>
                </a:solidFill>
              </a:rPr>
              <a:t>SQL Server Automation </a:t>
            </a:r>
            <a:endParaRPr lang="en-GB" sz="5400" dirty="0">
              <a:solidFill>
                <a:schemeClr val="bg1"/>
              </a:solidFill>
            </a:endParaRPr>
          </a:p>
          <a:p>
            <a:pPr algn="ctr"/>
            <a:r>
              <a:rPr lang="en-GB" sz="4400" dirty="0">
                <a:solidFill>
                  <a:schemeClr val="bg1"/>
                </a:solidFill>
              </a:rPr>
              <a:t>with PowerShell, </a:t>
            </a:r>
            <a:r>
              <a:rPr lang="en-GB" sz="4400" dirty="0" err="1">
                <a:solidFill>
                  <a:schemeClr val="bg1"/>
                </a:solidFill>
              </a:rPr>
              <a:t>dbatools</a:t>
            </a:r>
            <a:r>
              <a:rPr lang="en-GB" sz="44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GB" sz="4400" dirty="0">
                <a:solidFill>
                  <a:schemeClr val="bg1"/>
                </a:solidFill>
              </a:rPr>
              <a:t>and GitHub Actions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342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9CB3-7382-4630-9D25-12462617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2" y="198784"/>
            <a:ext cx="4453973" cy="1273178"/>
          </a:xfrm>
        </p:spPr>
        <p:txBody>
          <a:bodyPr/>
          <a:lstStyle/>
          <a:p>
            <a:r>
              <a:rPr lang="en-US" dirty="0"/>
              <a:t>Jess Pomfret</a:t>
            </a:r>
            <a:br>
              <a:rPr lang="en-US" dirty="0"/>
            </a:br>
            <a:r>
              <a:rPr lang="en-US" sz="2400" dirty="0"/>
              <a:t>(She/Her)</a:t>
            </a:r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DC714AD4-83A8-4057-BC8E-2D231207D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21" y="4064138"/>
            <a:ext cx="1296692" cy="2053095"/>
          </a:xfrm>
          <a:prstGeom prst="rect">
            <a:avLst/>
          </a:prstGeom>
        </p:spPr>
      </p:pic>
      <p:pic>
        <p:nvPicPr>
          <p:cNvPr id="6" name="Picture 5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1FDAF9AD-CE55-000A-47C3-57C965972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2" y="1940648"/>
            <a:ext cx="4291584" cy="42915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A60581-8059-605C-38CC-3A7FBE9F32A9}"/>
              </a:ext>
            </a:extLst>
          </p:cNvPr>
          <p:cNvSpPr txBox="1">
            <a:spLocks/>
          </p:cNvSpPr>
          <p:nvPr/>
        </p:nvSpPr>
        <p:spPr>
          <a:xfrm>
            <a:off x="5183188" y="1596571"/>
            <a:ext cx="5618222" cy="45206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Platform Engineer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LinkedIn Learning Instructor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Open Source Contributor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 err="1"/>
              <a:t>dbatools</a:t>
            </a:r>
            <a:r>
              <a:rPr lang="en-US" dirty="0"/>
              <a:t>, </a:t>
            </a:r>
            <a:r>
              <a:rPr lang="en-US" dirty="0" err="1"/>
              <a:t>MicrosoftFabricMgmt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Passionate about Automation, Proper Football &amp; Fitness</a:t>
            </a:r>
            <a:endParaRPr lang="en-US" dirty="0">
              <a:hlinkClick r:id="" action="ppaction://noaction"/>
            </a:endParaRPr>
          </a:p>
          <a:p>
            <a:endParaRPr lang="en-US" dirty="0">
              <a:hlinkClick r:id="" action="ppaction://noaction"/>
            </a:endParaRPr>
          </a:p>
          <a:p>
            <a:r>
              <a:rPr lang="en-US" sz="2600" dirty="0">
                <a:hlinkClick r:id="rId5"/>
              </a:rPr>
              <a:t>jpomfret7@gmail.com</a:t>
            </a:r>
            <a:endParaRPr lang="en-US" sz="2600" dirty="0"/>
          </a:p>
          <a:p>
            <a:r>
              <a:rPr lang="en-US" sz="2600" dirty="0"/>
              <a:t>jesspomfret.com</a:t>
            </a:r>
          </a:p>
          <a:p>
            <a:r>
              <a:rPr lang="en-US" sz="2600" dirty="0"/>
              <a:t>linkedin.com/in/</a:t>
            </a:r>
            <a:r>
              <a:rPr lang="en-US" sz="2600" dirty="0" err="1"/>
              <a:t>jpomfret</a:t>
            </a:r>
            <a:r>
              <a:rPr lang="en-US" sz="2600" dirty="0"/>
              <a:t>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A7A62-ABC3-F587-3BC6-43423ED04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568" y="178778"/>
            <a:ext cx="3491827" cy="76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EC494-CAFF-E756-377B-E6E01521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53C7-BB8F-54BE-D8F3-A37C000A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plan?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BEA79B7-C37D-7F74-7713-7CC017715276}"/>
              </a:ext>
            </a:extLst>
          </p:cNvPr>
          <p:cNvSpPr/>
          <p:nvPr/>
        </p:nvSpPr>
        <p:spPr>
          <a:xfrm>
            <a:off x="2641599" y="719666"/>
            <a:ext cx="6908800" cy="5418667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77B8B85-85C3-FAFF-FA45-4B10563577B7}"/>
              </a:ext>
            </a:extLst>
          </p:cNvPr>
          <p:cNvSpPr/>
          <p:nvPr/>
        </p:nvSpPr>
        <p:spPr>
          <a:xfrm>
            <a:off x="2033810" y="2345266"/>
            <a:ext cx="2611421" cy="2167466"/>
          </a:xfrm>
          <a:custGeom>
            <a:avLst/>
            <a:gdLst>
              <a:gd name="csX0" fmla="*/ 0 w 2611421"/>
              <a:gd name="csY0" fmla="*/ 361252 h 2167466"/>
              <a:gd name="csX1" fmla="*/ 361252 w 2611421"/>
              <a:gd name="csY1" fmla="*/ 0 h 2167466"/>
              <a:gd name="csX2" fmla="*/ 2250169 w 2611421"/>
              <a:gd name="csY2" fmla="*/ 0 h 2167466"/>
              <a:gd name="csX3" fmla="*/ 2611421 w 2611421"/>
              <a:gd name="csY3" fmla="*/ 361252 h 2167466"/>
              <a:gd name="csX4" fmla="*/ 2611421 w 2611421"/>
              <a:gd name="csY4" fmla="*/ 1806214 h 2167466"/>
              <a:gd name="csX5" fmla="*/ 2250169 w 2611421"/>
              <a:gd name="csY5" fmla="*/ 2167466 h 2167466"/>
              <a:gd name="csX6" fmla="*/ 361252 w 2611421"/>
              <a:gd name="csY6" fmla="*/ 2167466 h 2167466"/>
              <a:gd name="csX7" fmla="*/ 0 w 2611421"/>
              <a:gd name="csY7" fmla="*/ 1806214 h 2167466"/>
              <a:gd name="csX8" fmla="*/ 0 w 2611421"/>
              <a:gd name="csY8" fmla="*/ 361252 h 2167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11421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250169" y="0"/>
                </a:lnTo>
                <a:cubicBezTo>
                  <a:pt x="2449683" y="0"/>
                  <a:pt x="2611421" y="161738"/>
                  <a:pt x="2611421" y="361252"/>
                </a:cubicBezTo>
                <a:lnTo>
                  <a:pt x="2611421" y="1806214"/>
                </a:lnTo>
                <a:cubicBezTo>
                  <a:pt x="2611421" y="2005728"/>
                  <a:pt x="2449683" y="2167466"/>
                  <a:pt x="2250169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347" tIns="235347" rIns="235347" bIns="235347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400" kern="12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2400" kern="12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400" kern="1200" dirty="0" err="1">
                <a:solidFill>
                  <a:schemeClr val="tx1"/>
                </a:solidFill>
              </a:rPr>
              <a:t>dbatools</a:t>
            </a:r>
            <a:endParaRPr lang="en-GB" sz="2400" kern="1200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1AF89DE-D6F7-5F57-6CE8-EA1BF8142819}"/>
              </a:ext>
            </a:extLst>
          </p:cNvPr>
          <p:cNvSpPr/>
          <p:nvPr/>
        </p:nvSpPr>
        <p:spPr>
          <a:xfrm>
            <a:off x="4790289" y="2345266"/>
            <a:ext cx="2611421" cy="2167466"/>
          </a:xfrm>
          <a:custGeom>
            <a:avLst/>
            <a:gdLst>
              <a:gd name="csX0" fmla="*/ 0 w 2611421"/>
              <a:gd name="csY0" fmla="*/ 361252 h 2167466"/>
              <a:gd name="csX1" fmla="*/ 361252 w 2611421"/>
              <a:gd name="csY1" fmla="*/ 0 h 2167466"/>
              <a:gd name="csX2" fmla="*/ 2250169 w 2611421"/>
              <a:gd name="csY2" fmla="*/ 0 h 2167466"/>
              <a:gd name="csX3" fmla="*/ 2611421 w 2611421"/>
              <a:gd name="csY3" fmla="*/ 361252 h 2167466"/>
              <a:gd name="csX4" fmla="*/ 2611421 w 2611421"/>
              <a:gd name="csY4" fmla="*/ 1806214 h 2167466"/>
              <a:gd name="csX5" fmla="*/ 2250169 w 2611421"/>
              <a:gd name="csY5" fmla="*/ 2167466 h 2167466"/>
              <a:gd name="csX6" fmla="*/ 361252 w 2611421"/>
              <a:gd name="csY6" fmla="*/ 2167466 h 2167466"/>
              <a:gd name="csX7" fmla="*/ 0 w 2611421"/>
              <a:gd name="csY7" fmla="*/ 1806214 h 2167466"/>
              <a:gd name="csX8" fmla="*/ 0 w 2611421"/>
              <a:gd name="csY8" fmla="*/ 361252 h 2167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11421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250169" y="0"/>
                </a:lnTo>
                <a:cubicBezTo>
                  <a:pt x="2449683" y="0"/>
                  <a:pt x="2611421" y="161738"/>
                  <a:pt x="2611421" y="361252"/>
                </a:cubicBezTo>
                <a:lnTo>
                  <a:pt x="2611421" y="1806214"/>
                </a:lnTo>
                <a:cubicBezTo>
                  <a:pt x="2611421" y="2005728"/>
                  <a:pt x="2449683" y="2167466"/>
                  <a:pt x="2250169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347" tIns="235347" rIns="235347" bIns="235347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GitHub Actions</a:t>
            </a:r>
            <a:endParaRPr lang="en-US" sz="2400" kern="1200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3654C1-048E-29A2-FC75-233D26EE7C39}"/>
              </a:ext>
            </a:extLst>
          </p:cNvPr>
          <p:cNvSpPr/>
          <p:nvPr/>
        </p:nvSpPr>
        <p:spPr>
          <a:xfrm>
            <a:off x="7546768" y="2345266"/>
            <a:ext cx="2611421" cy="2167466"/>
          </a:xfrm>
          <a:custGeom>
            <a:avLst/>
            <a:gdLst>
              <a:gd name="csX0" fmla="*/ 0 w 2611421"/>
              <a:gd name="csY0" fmla="*/ 361252 h 2167466"/>
              <a:gd name="csX1" fmla="*/ 361252 w 2611421"/>
              <a:gd name="csY1" fmla="*/ 0 h 2167466"/>
              <a:gd name="csX2" fmla="*/ 2250169 w 2611421"/>
              <a:gd name="csY2" fmla="*/ 0 h 2167466"/>
              <a:gd name="csX3" fmla="*/ 2611421 w 2611421"/>
              <a:gd name="csY3" fmla="*/ 361252 h 2167466"/>
              <a:gd name="csX4" fmla="*/ 2611421 w 2611421"/>
              <a:gd name="csY4" fmla="*/ 1806214 h 2167466"/>
              <a:gd name="csX5" fmla="*/ 2250169 w 2611421"/>
              <a:gd name="csY5" fmla="*/ 2167466 h 2167466"/>
              <a:gd name="csX6" fmla="*/ 361252 w 2611421"/>
              <a:gd name="csY6" fmla="*/ 2167466 h 2167466"/>
              <a:gd name="csX7" fmla="*/ 0 w 2611421"/>
              <a:gd name="csY7" fmla="*/ 1806214 h 2167466"/>
              <a:gd name="csX8" fmla="*/ 0 w 2611421"/>
              <a:gd name="csY8" fmla="*/ 361252 h 2167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11421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250169" y="0"/>
                </a:lnTo>
                <a:cubicBezTo>
                  <a:pt x="2449683" y="0"/>
                  <a:pt x="2611421" y="161738"/>
                  <a:pt x="2611421" y="361252"/>
                </a:cubicBezTo>
                <a:lnTo>
                  <a:pt x="2611421" y="1806214"/>
                </a:lnTo>
                <a:cubicBezTo>
                  <a:pt x="2611421" y="2005728"/>
                  <a:pt x="2449683" y="2167466"/>
                  <a:pt x="2250169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347" tIns="235347" rIns="235347" bIns="235347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 dirty="0">
              <a:solidFill>
                <a:schemeClr val="tx1"/>
              </a:solidFill>
            </a:endParaRP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chemeClr val="tx1"/>
                </a:solidFill>
              </a:rPr>
              <a:t>Final Project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D50204-5288-7FE8-985A-02B7E0CDCDB5}"/>
              </a:ext>
            </a:extLst>
          </p:cNvPr>
          <p:cNvGrpSpPr/>
          <p:nvPr/>
        </p:nvGrpSpPr>
        <p:grpSpPr>
          <a:xfrm>
            <a:off x="8213689" y="2564026"/>
            <a:ext cx="1277577" cy="1330898"/>
            <a:chOff x="6887035" y="3016300"/>
            <a:chExt cx="1111240" cy="1111292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389ECC2-7D98-28DF-12AB-0780F739E6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7035" y="3016300"/>
              <a:ext cx="1111240" cy="1111240"/>
            </a:xfrm>
            <a:prstGeom prst="rect">
              <a:avLst/>
            </a:prstGeom>
          </p:spPr>
        </p:pic>
        <p:pic>
          <p:nvPicPr>
            <p:cNvPr id="18" name="Graphic 17" descr="Cat with solid fill">
              <a:extLst>
                <a:ext uri="{FF2B5EF4-FFF2-40B4-BE49-F238E27FC236}">
                  <a16:creationId xmlns:a16="http://schemas.microsoft.com/office/drawing/2014/main" id="{1DBCAD9E-37F7-38AF-45E5-473F48D52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46280" y="3475597"/>
              <a:ext cx="651995" cy="651995"/>
            </a:xfrm>
            <a:prstGeom prst="rect">
              <a:avLst/>
            </a:prstGeom>
          </p:spPr>
        </p:pic>
      </p:grpSp>
      <p:pic>
        <p:nvPicPr>
          <p:cNvPr id="1026" name="Picture 2" descr="GitHub Actions · GitHub">
            <a:extLst>
              <a:ext uri="{FF2B5EF4-FFF2-40B4-BE49-F238E27FC236}">
                <a16:creationId xmlns:a16="http://schemas.microsoft.com/office/drawing/2014/main" id="{6E7BCC44-0538-18E0-9E80-D200DD3F9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764" y="2690455"/>
            <a:ext cx="1204469" cy="120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dbatools logo">
            <a:extLst>
              <a:ext uri="{FF2B5EF4-FFF2-40B4-BE49-F238E27FC236}">
                <a16:creationId xmlns:a16="http://schemas.microsoft.com/office/drawing/2014/main" id="{7E38E9C5-6ECD-8CA3-8604-B547634BD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993" y="2709568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9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8600-FC27-8488-548F-D646611E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D12D84-C8F2-1E38-4510-1AFDC00F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dbatools</a:t>
            </a:r>
            <a:endParaRPr lang="en-GB" dirty="0"/>
          </a:p>
        </p:txBody>
      </p:sp>
      <p:pic>
        <p:nvPicPr>
          <p:cNvPr id="2" name="Picture 4" descr="dbatools logo">
            <a:extLst>
              <a:ext uri="{FF2B5EF4-FFF2-40B4-BE49-F238E27FC236}">
                <a16:creationId xmlns:a16="http://schemas.microsoft.com/office/drawing/2014/main" id="{C0ABA8E8-D9E1-AB2C-BF9D-B228A4D14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365" y="2824989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1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E1081-715B-9203-5D6E-D1DDA1C8AD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960120"/>
            <a:ext cx="10515600" cy="397446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accent5"/>
                </a:solidFill>
              </a:rPr>
              <a:t>It’s like a command line </a:t>
            </a:r>
            <a:br>
              <a:rPr lang="en-GB" dirty="0">
                <a:solidFill>
                  <a:schemeClr val="accent5"/>
                </a:solidFill>
              </a:rPr>
            </a:br>
            <a:r>
              <a:rPr lang="en-GB" dirty="0">
                <a:solidFill>
                  <a:schemeClr val="accent5"/>
                </a:solidFill>
              </a:rPr>
              <a:t>SQL Server Management Studio</a:t>
            </a:r>
            <a:br>
              <a:rPr lang="en-GB" dirty="0">
                <a:solidFill>
                  <a:schemeClr val="accent5"/>
                </a:solidFill>
              </a:rPr>
            </a:br>
            <a:br>
              <a:rPr lang="en-GB" dirty="0">
                <a:solidFill>
                  <a:schemeClr val="accent5"/>
                </a:solidFill>
              </a:rPr>
            </a:br>
            <a:r>
              <a:rPr lang="en-GB" dirty="0">
                <a:solidFill>
                  <a:schemeClr val="accent5"/>
                </a:solidFill>
              </a:rPr>
              <a:t>If you can do it in SSMS – you can do it in </a:t>
            </a:r>
            <a:r>
              <a:rPr lang="en-GB" dirty="0" err="1">
                <a:solidFill>
                  <a:schemeClr val="accent5"/>
                </a:solidFill>
              </a:rPr>
              <a:t>dbatools</a:t>
            </a:r>
            <a:r>
              <a:rPr lang="en-GB" dirty="0">
                <a:solidFill>
                  <a:schemeClr val="accent5"/>
                </a:solidFill>
              </a:rPr>
              <a:t>*</a:t>
            </a:r>
            <a:br>
              <a:rPr lang="en-GB" dirty="0">
                <a:solidFill>
                  <a:schemeClr val="accent5"/>
                </a:solidFill>
              </a:rPr>
            </a:br>
            <a:br>
              <a:rPr lang="en-GB" dirty="0">
                <a:solidFill>
                  <a:schemeClr val="accent5"/>
                </a:solidFill>
              </a:rPr>
            </a:br>
            <a:r>
              <a:rPr lang="en-GB" sz="3100" dirty="0">
                <a:solidFill>
                  <a:schemeClr val="accent5"/>
                </a:solidFill>
              </a:rPr>
              <a:t>*mostly</a:t>
            </a:r>
            <a:endParaRPr lang="en-GB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7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99F3-4F47-45A5-23E9-8755F6F0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027EDE-0552-600B-9325-42923C95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Database Info for User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88A07-F1A7-57B7-3214-EE91C363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E111B-6194-E1BA-1E5D-9A36F75B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6" y="1152089"/>
            <a:ext cx="8507012" cy="3200847"/>
          </a:xfrm>
          <a:prstGeom prst="rect">
            <a:avLst/>
          </a:prstGeom>
          <a:ln>
            <a:solidFill>
              <a:srgbClr val="00001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1306F0-CC6C-2450-C529-231476F5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5171"/>
          <a:stretch/>
        </p:blipFill>
        <p:spPr>
          <a:xfrm>
            <a:off x="179226" y="4593658"/>
            <a:ext cx="11833548" cy="1181479"/>
          </a:xfrm>
          <a:prstGeom prst="rect">
            <a:avLst/>
          </a:prstGeom>
          <a:ln>
            <a:solidFill>
              <a:srgbClr val="000011"/>
            </a:solidFill>
          </a:ln>
        </p:spPr>
      </p:pic>
    </p:spTree>
    <p:extLst>
      <p:ext uri="{BB962C8B-B14F-4D97-AF65-F5344CB8AC3E}">
        <p14:creationId xmlns:p14="http://schemas.microsoft.com/office/powerpoint/2010/main" val="16326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F46A-3D12-DF25-D78C-E743A545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901E47-2867-48CB-880E-6DB9BBEF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Database Info for User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26355B-43DA-99BE-81F7-E1E1E6D0C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24EBB-4633-0AD3-6117-B7DA7845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1" y="1719877"/>
            <a:ext cx="11924479" cy="3418245"/>
          </a:xfrm>
          <a:prstGeom prst="rect">
            <a:avLst/>
          </a:prstGeom>
          <a:ln>
            <a:solidFill>
              <a:srgbClr val="000011"/>
            </a:solidFill>
          </a:ln>
        </p:spPr>
      </p:pic>
    </p:spTree>
    <p:extLst>
      <p:ext uri="{BB962C8B-B14F-4D97-AF65-F5344CB8AC3E}">
        <p14:creationId xmlns:p14="http://schemas.microsoft.com/office/powerpoint/2010/main" val="33825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9A0347-DE64-AD29-E486-32CE0766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Backup a database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81683-43BA-F964-A0CE-2FE9E9B27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7B20D-C0EC-DD17-20FA-C986033A2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66" y="1155723"/>
            <a:ext cx="6023952" cy="45840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6F7F6A-FF68-8E61-1E9B-DC0693AD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979" y="1164145"/>
            <a:ext cx="522995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2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EB7800-3B3E-D370-8613-E6864E57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Get SQL Agent jobs on Sql1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734B36-C614-60DD-E225-8008F3D4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BCB82-A769-62F4-52A3-2DBC9543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38" y="1155723"/>
            <a:ext cx="5499153" cy="4905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66A57-99AA-2AE1-EA8F-772D18D95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29" y="1155723"/>
            <a:ext cx="544906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9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FE7195-55DE-0F7E-18B5-A6413CCD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Get Database Name and </a:t>
            </a:r>
            <a:r>
              <a:rPr lang="en-GB" sz="2800" dirty="0" err="1"/>
              <a:t>AutoShrink</a:t>
            </a:r>
            <a:r>
              <a:rPr lang="en-GB" sz="2800" dirty="0"/>
              <a:t> status on Sql1, Sql2 and Sql3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2C1777-ED9A-142D-4167-A69BFFEA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EA3E1-249A-D7FA-58CA-76277E0CF2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10"/>
          <a:stretch/>
        </p:blipFill>
        <p:spPr>
          <a:xfrm>
            <a:off x="144979" y="1659478"/>
            <a:ext cx="3791479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90F20F-8CE5-790D-8F42-18386BDC3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41"/>
          <a:stretch/>
        </p:blipFill>
        <p:spPr>
          <a:xfrm>
            <a:off x="4071655" y="1720324"/>
            <a:ext cx="3791479" cy="194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99264-6F70-D732-3778-7FA758653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331" y="1020932"/>
            <a:ext cx="4048690" cy="63278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B1A075-2041-A746-1529-1530617054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8" b="86696"/>
          <a:stretch/>
        </p:blipFill>
        <p:spPr>
          <a:xfrm>
            <a:off x="477583" y="4545485"/>
            <a:ext cx="7082207" cy="9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B350F-8861-9F08-BAC7-21EC63E0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661BAB-2C00-CD17-CB4F-841D0BEF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Get Database Name and </a:t>
            </a:r>
            <a:r>
              <a:rPr lang="en-GB" sz="2800" dirty="0" err="1"/>
              <a:t>AutoShrink</a:t>
            </a:r>
            <a:r>
              <a:rPr lang="en-GB" sz="2800" dirty="0"/>
              <a:t> status on Sql1, Sql2 and Sql3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F8AB52-7895-D0C6-89F9-DDE3E070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3B2BEE3-9CC0-A90C-0D96-2562A7CD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" b="31017"/>
          <a:stretch/>
        </p:blipFill>
        <p:spPr>
          <a:xfrm>
            <a:off x="2334843" y="1746000"/>
            <a:ext cx="7082207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15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FF6200-CD25-4BFB-87AE-CCCF7587B32A}"/>
              </a:ext>
            </a:extLst>
          </p:cNvPr>
          <p:cNvSpPr/>
          <p:nvPr/>
        </p:nvSpPr>
        <p:spPr>
          <a:xfrm>
            <a:off x="4620858" y="6088559"/>
            <a:ext cx="27451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dbatools.io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CCE26-C73A-F492-60DA-8047C1BB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220"/>
          <a:stretch>
            <a:fillRect/>
          </a:stretch>
        </p:blipFill>
        <p:spPr>
          <a:xfrm>
            <a:off x="858833" y="0"/>
            <a:ext cx="10474333" cy="608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4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BCD1-CFBA-F284-0EEA-A13D111D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7E851-115D-ABEF-ACA6-9F991F19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sz="4400" dirty="0"/>
              <a:t>Demo</a:t>
            </a:r>
            <a:r>
              <a:rPr lang="en-US" dirty="0"/>
              <a:t> </a:t>
            </a:r>
            <a:r>
              <a:rPr lang="en-US" sz="4400" dirty="0"/>
              <a:t>Time – </a:t>
            </a:r>
            <a:r>
              <a:rPr lang="en-US" sz="4400" dirty="0" err="1"/>
              <a:t>dbatools</a:t>
            </a:r>
            <a:r>
              <a:rPr lang="en-US" sz="4400" dirty="0"/>
              <a:t> Magic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446CF-C57F-6A09-36AE-B56207EB4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GB" dirty="0"/>
              <a:t>Create a new database</a:t>
            </a:r>
          </a:p>
          <a:p>
            <a:pPr marL="0" indent="0">
              <a:buNone/>
            </a:pPr>
            <a:r>
              <a:rPr lang="en-GB" dirty="0"/>
              <a:t>Backup some databases</a:t>
            </a:r>
          </a:p>
          <a:p>
            <a:pPr marL="0" indent="0">
              <a:buNone/>
            </a:pPr>
            <a:r>
              <a:rPr lang="en-GB" dirty="0"/>
              <a:t>Collect some information</a:t>
            </a:r>
          </a:p>
        </p:txBody>
      </p:sp>
    </p:spTree>
    <p:extLst>
      <p:ext uri="{BB962C8B-B14F-4D97-AF65-F5344CB8AC3E}">
        <p14:creationId xmlns:p14="http://schemas.microsoft.com/office/powerpoint/2010/main" val="265265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9F36-7294-2348-6427-E246B2B3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GitHub Actions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598BEB-F7A1-AB73-4119-8C172C42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@actions">
            <a:extLst>
              <a:ext uri="{FF2B5EF4-FFF2-40B4-BE49-F238E27FC236}">
                <a16:creationId xmlns:a16="http://schemas.microsoft.com/office/drawing/2014/main" id="{6F72ED27-C564-0E53-F019-EA17BE4AD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960" y="2439000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826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6613-B955-03DE-DC3E-AD3DFBA6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55ACE-4A8C-C7F5-3054-BC7E9AFC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CI\CD Platform</a:t>
            </a:r>
          </a:p>
          <a:p>
            <a:r>
              <a:rPr lang="en-GB"/>
              <a:t>Allows you to automate things</a:t>
            </a:r>
          </a:p>
          <a:p>
            <a:r>
              <a:rPr lang="en-GB"/>
              <a:t>Based on triggers</a:t>
            </a:r>
          </a:p>
          <a:p>
            <a:pPr lvl="1"/>
            <a:r>
              <a:rPr lang="en-GB"/>
              <a:t>Schedule</a:t>
            </a:r>
          </a:p>
          <a:p>
            <a:pPr lvl="1"/>
            <a:r>
              <a:rPr lang="en-GB"/>
              <a:t>Commit</a:t>
            </a:r>
          </a:p>
          <a:p>
            <a:pPr lvl="1"/>
            <a:r>
              <a:rPr lang="en-GB"/>
              <a:t>Pull Request</a:t>
            </a:r>
          </a:p>
          <a:p>
            <a:pPr lvl="1"/>
            <a:r>
              <a:rPr lang="en-GB"/>
              <a:t>Issue</a:t>
            </a:r>
          </a:p>
          <a:p>
            <a:r>
              <a:rPr lang="en-GB"/>
              <a:t>Uses GitHub Hosted or Self-Hosted runners </a:t>
            </a:r>
          </a:p>
        </p:txBody>
      </p:sp>
      <p:pic>
        <p:nvPicPr>
          <p:cNvPr id="1026" name="Picture 2" descr="@actions">
            <a:extLst>
              <a:ext uri="{FF2B5EF4-FFF2-40B4-BE49-F238E27FC236}">
                <a16:creationId xmlns:a16="http://schemas.microsoft.com/office/drawing/2014/main" id="{BFC93674-4868-4EC3-DE6B-519C1C193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631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076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169B-AE1C-C8C2-3E85-E405DAF3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264B-E09F-6EF0-BF43-55750D34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Azure DevOps Pipelines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BB11A-3B8A-E14F-F99C-A3C75D9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CI\CD Platform</a:t>
            </a:r>
          </a:p>
          <a:p>
            <a:r>
              <a:rPr lang="en-GB"/>
              <a:t>Allows you to automate things</a:t>
            </a:r>
          </a:p>
          <a:p>
            <a:r>
              <a:rPr lang="en-GB"/>
              <a:t>Based on triggers</a:t>
            </a:r>
          </a:p>
          <a:p>
            <a:pPr lvl="1"/>
            <a:r>
              <a:rPr lang="en-GB"/>
              <a:t>Schedule</a:t>
            </a:r>
          </a:p>
          <a:p>
            <a:pPr lvl="1"/>
            <a:r>
              <a:rPr lang="en-GB"/>
              <a:t>Commit</a:t>
            </a:r>
          </a:p>
          <a:p>
            <a:pPr lvl="1"/>
            <a:r>
              <a:rPr lang="en-GB"/>
              <a:t>Pull Request</a:t>
            </a:r>
          </a:p>
          <a:p>
            <a:pPr lvl="1"/>
            <a:r>
              <a:rPr lang="en-GB"/>
              <a:t>Work Item (not as easy – need to use webhook trigger)</a:t>
            </a:r>
          </a:p>
          <a:p>
            <a:r>
              <a:rPr lang="en-GB"/>
              <a:t>Uses Microsoft Hosted or Self-Hosted agents</a:t>
            </a:r>
          </a:p>
        </p:txBody>
      </p:sp>
      <p:pic>
        <p:nvPicPr>
          <p:cNvPr id="1028" name="Picture 4" descr="Azure Pipelines: A Comprehensive Guide to Streamlining Your DevOps Workflow  - WeCodeRight">
            <a:extLst>
              <a:ext uri="{FF2B5EF4-FFF2-40B4-BE49-F238E27FC236}">
                <a16:creationId xmlns:a16="http://schemas.microsoft.com/office/drawing/2014/main" id="{C036D8B5-7B41-B27A-91F4-FA956A5B2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994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97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2838-B85D-73CE-DBA3-F8CC4AA3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BF26-8823-9FA6-8D74-2CA84804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 use cases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75CC5-C38F-3DCA-E433-AF85BD7D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 push – run automated tests</a:t>
            </a:r>
          </a:p>
          <a:p>
            <a:r>
              <a:rPr lang="en-GB" dirty="0"/>
              <a:t>On schedule – look for issues that are stale</a:t>
            </a:r>
          </a:p>
          <a:p>
            <a:r>
              <a:rPr lang="en-GB" dirty="0"/>
              <a:t>Manually – publish package to NuGet</a:t>
            </a:r>
          </a:p>
          <a:p>
            <a:endParaRPr lang="en-GB" dirty="0"/>
          </a:p>
          <a:p>
            <a:r>
              <a:rPr lang="en-GB" dirty="0"/>
              <a:t>On issue creation </a:t>
            </a:r>
          </a:p>
          <a:p>
            <a:pPr lvl="1"/>
            <a:r>
              <a:rPr lang="en-GB" dirty="0"/>
              <a:t>Create a SQL Server database?</a:t>
            </a:r>
          </a:p>
          <a:p>
            <a:pPr lvl="1"/>
            <a:r>
              <a:rPr lang="en-GB" dirty="0"/>
              <a:t>add article to replication?</a:t>
            </a:r>
          </a:p>
          <a:p>
            <a:pPr lvl="1"/>
            <a:r>
              <a:rPr lang="en-GB" dirty="0"/>
              <a:t>Start an agent job?</a:t>
            </a:r>
          </a:p>
        </p:txBody>
      </p:sp>
    </p:spTree>
    <p:extLst>
      <p:ext uri="{BB962C8B-B14F-4D97-AF65-F5344CB8AC3E}">
        <p14:creationId xmlns:p14="http://schemas.microsoft.com/office/powerpoint/2010/main" val="135040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1D79F-76DF-34C5-4E37-E299DCADF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40" y="0"/>
            <a:ext cx="9646919" cy="61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63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0C86-FFA6-9353-C6F7-556AE85B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6A44-46E2-043B-5F71-D4B33113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 sz="4400" dirty="0"/>
              <a:t>Demo</a:t>
            </a:r>
            <a:r>
              <a:rPr lang="en-US" dirty="0"/>
              <a:t> </a:t>
            </a:r>
            <a:r>
              <a:rPr lang="en-US" sz="4400" dirty="0"/>
              <a:t>Time – Our first GitHub Action!</a:t>
            </a:r>
            <a:endParaRPr lang="en-GB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734F798-9CE6-EABF-8F11-7E10278490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8366738"/>
              </p:ext>
            </p:extLst>
          </p:nvPr>
        </p:nvGraphicFramePr>
        <p:xfrm>
          <a:off x="1435100" y="818651"/>
          <a:ext cx="9321800" cy="495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1654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AF6B9-20B4-261F-BC62-9B6F1B35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B4AACA-7D8D-BBFC-DF46-C2CAAA2B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GitHub Actions Next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ED78D-FDA1-D3A9-B682-3D8BCCA91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/>
              <a:t>Automate all the things</a:t>
            </a:r>
          </a:p>
        </p:txBody>
      </p:sp>
      <p:pic>
        <p:nvPicPr>
          <p:cNvPr id="2052" name="Picture 4" descr="dbatools logo">
            <a:extLst>
              <a:ext uri="{FF2B5EF4-FFF2-40B4-BE49-F238E27FC236}">
                <a16:creationId xmlns:a16="http://schemas.microsoft.com/office/drawing/2014/main" id="{004CE23E-9EB9-8A47-4DAD-824558E0B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154" y="533808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@actions">
            <a:extLst>
              <a:ext uri="{FF2B5EF4-FFF2-40B4-BE49-F238E27FC236}">
                <a16:creationId xmlns:a16="http://schemas.microsoft.com/office/drawing/2014/main" id="{98E43182-79BF-DA92-6A1D-68ED26F3E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089" y="533808"/>
            <a:ext cx="1208022" cy="120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79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98F6E-2DC7-67E9-021B-095CEC30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D826-E4B1-B198-E21D-5DC78D46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GitHub Actions - Runners</a:t>
            </a:r>
            <a:endParaRPr lang="en-GB" sz="44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C3BB5-E554-FBD5-6DAE-8F9D96830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Where the code runs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GitHub-hosted runners</a:t>
            </a:r>
          </a:p>
          <a:p>
            <a:pPr lvl="1"/>
            <a:r>
              <a:rPr lang="en-GB" dirty="0"/>
              <a:t>VMs hosted by GitHub</a:t>
            </a:r>
          </a:p>
          <a:p>
            <a:pPr lvl="1"/>
            <a:r>
              <a:rPr lang="en-GB" dirty="0"/>
              <a:t>Runner images – Windows, Linux, MacOS</a:t>
            </a:r>
          </a:p>
          <a:p>
            <a:pPr lvl="1"/>
            <a:r>
              <a:rPr lang="en-GB" dirty="0"/>
              <a:t>Preinstalled tools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Self-hosted runners</a:t>
            </a:r>
          </a:p>
          <a:p>
            <a:pPr lvl="1"/>
            <a:r>
              <a:rPr lang="en-GB" dirty="0"/>
              <a:t>Agent installed on your VMs</a:t>
            </a:r>
          </a:p>
          <a:p>
            <a:pPr lvl="1"/>
            <a:r>
              <a:rPr lang="en-GB" dirty="0"/>
              <a:t>Within your environment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dirty="0"/>
              <a:t>https://docs.github.com/en/actions/concepts/runners</a:t>
            </a:r>
          </a:p>
        </p:txBody>
      </p:sp>
      <p:pic>
        <p:nvPicPr>
          <p:cNvPr id="1026" name="Picture 2" descr="@actions">
            <a:extLst>
              <a:ext uri="{FF2B5EF4-FFF2-40B4-BE49-F238E27FC236}">
                <a16:creationId xmlns:a16="http://schemas.microsoft.com/office/drawing/2014/main" id="{49418F62-B4D1-7671-FF3A-B21FFAF2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311" y="1003852"/>
            <a:ext cx="198000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9514A-C90B-679D-9181-1DECB0E57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311" y="3799523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9E35-6DF5-594E-53E4-5B7ECAE0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C8C70-6593-A3DF-3E25-EE930ACD8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03852"/>
            <a:ext cx="11064240" cy="5173111"/>
          </a:xfrm>
        </p:spPr>
        <p:txBody>
          <a:bodyPr/>
          <a:lstStyle/>
          <a:p>
            <a:r>
              <a:rPr lang="en-GB" dirty="0"/>
              <a:t>Workflow – automated process</a:t>
            </a:r>
          </a:p>
          <a:p>
            <a:pPr lvl="1"/>
            <a:r>
              <a:rPr lang="en-GB" dirty="0"/>
              <a:t>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CE7EC-A8B5-9515-42BA-13C30683C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55897"/>
            <a:ext cx="8732520" cy="44210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6B02F4-F31D-7316-9996-D3A67F3EFF3A}"/>
              </a:ext>
            </a:extLst>
          </p:cNvPr>
          <p:cNvSpPr/>
          <p:nvPr/>
        </p:nvSpPr>
        <p:spPr>
          <a:xfrm>
            <a:off x="3459480" y="3226526"/>
            <a:ext cx="2235926" cy="114953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68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5EF1-CDBA-746C-DCB3-5F1C8DF96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26DB-435B-9FC7-973D-5BE65E16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38622-B5B5-63C6-77A7-B8404B8B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003852"/>
            <a:ext cx="11064240" cy="5173111"/>
          </a:xfrm>
        </p:spPr>
        <p:txBody>
          <a:bodyPr/>
          <a:lstStyle/>
          <a:p>
            <a:r>
              <a:rPr lang="en-GB" dirty="0"/>
              <a:t>Workflow – automated process</a:t>
            </a:r>
          </a:p>
          <a:p>
            <a:pPr lvl="1"/>
            <a:r>
              <a:rPr lang="en-GB" dirty="0"/>
              <a:t>Job</a:t>
            </a:r>
          </a:p>
          <a:p>
            <a:pPr lvl="2"/>
            <a:r>
              <a:rPr lang="en-GB" dirty="0"/>
              <a:t>Step</a:t>
            </a:r>
          </a:p>
          <a:p>
            <a:pPr lvl="3"/>
            <a:r>
              <a:rPr lang="en-GB" dirty="0"/>
              <a:t>Action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C16175-A1BC-EE99-383D-43C12433D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15734"/>
            <a:ext cx="9831824" cy="53206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175949-FA33-D9AD-6028-24CA3F927158}"/>
              </a:ext>
            </a:extLst>
          </p:cNvPr>
          <p:cNvSpPr/>
          <p:nvPr/>
        </p:nvSpPr>
        <p:spPr>
          <a:xfrm>
            <a:off x="6346372" y="3971109"/>
            <a:ext cx="2431868" cy="13846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9C8B3-EEBB-3BB6-B203-5B6CA8A4FC39}"/>
              </a:ext>
            </a:extLst>
          </p:cNvPr>
          <p:cNvSpPr/>
          <p:nvPr/>
        </p:nvSpPr>
        <p:spPr>
          <a:xfrm>
            <a:off x="6878139" y="5365711"/>
            <a:ext cx="1267641" cy="21974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33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4" grpId="1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DFC8-C2E4-3E32-D49E-C8D06531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Variables &amp; Secrets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BF8F5-A24E-28C5-488E-45371A4B9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852"/>
            <a:ext cx="6208552" cy="51731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Variables – Non Sensitive Data</a:t>
            </a:r>
          </a:p>
          <a:p>
            <a:pPr lvl="1"/>
            <a:r>
              <a:rPr lang="en-GB" dirty="0"/>
              <a:t>Plain text</a:t>
            </a:r>
          </a:p>
          <a:p>
            <a:pPr lvl="1"/>
            <a:r>
              <a:rPr lang="en-GB" dirty="0"/>
              <a:t>${{ </a:t>
            </a:r>
            <a:r>
              <a:rPr lang="en-GB" dirty="0" err="1"/>
              <a:t>vars.MY_VAR</a:t>
            </a:r>
            <a:r>
              <a:rPr lang="en-GB" dirty="0"/>
              <a:t> }}</a:t>
            </a:r>
          </a:p>
          <a:p>
            <a:endParaRPr lang="en-GB" dirty="0"/>
          </a:p>
          <a:p>
            <a:r>
              <a:rPr lang="en-GB" dirty="0"/>
              <a:t>Secrets – Sensitive Data</a:t>
            </a:r>
          </a:p>
          <a:p>
            <a:pPr lvl="1"/>
            <a:r>
              <a:rPr lang="en-GB" dirty="0"/>
              <a:t>Encrypted</a:t>
            </a:r>
          </a:p>
          <a:p>
            <a:pPr lvl="1"/>
            <a:r>
              <a:rPr lang="en-GB" dirty="0"/>
              <a:t>${{ </a:t>
            </a:r>
            <a:r>
              <a:rPr lang="en-GB" dirty="0" err="1"/>
              <a:t>secrets.MY_SECRET</a:t>
            </a:r>
            <a:r>
              <a:rPr lang="en-GB" dirty="0"/>
              <a:t> }}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Stored</a:t>
            </a:r>
          </a:p>
          <a:p>
            <a:pPr lvl="1"/>
            <a:r>
              <a:rPr lang="en-GB" dirty="0"/>
              <a:t>Organisation</a:t>
            </a:r>
          </a:p>
          <a:p>
            <a:pPr lvl="1"/>
            <a:r>
              <a:rPr lang="en-GB" dirty="0"/>
              <a:t>Repo</a:t>
            </a:r>
          </a:p>
          <a:p>
            <a:pPr lvl="1"/>
            <a:r>
              <a:rPr lang="en-GB" dirty="0"/>
              <a:t>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630A9-8103-71AC-07CF-5DAF3642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5" b="10009"/>
          <a:stretch>
            <a:fillRect/>
          </a:stretch>
        </p:blipFill>
        <p:spPr>
          <a:xfrm>
            <a:off x="6857902" y="1003851"/>
            <a:ext cx="5334098" cy="517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5368-98DF-02F8-0300-31556A5A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Environments &amp; Approvals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9033B-9166-4030-C98A-204995060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92372"/>
            <a:ext cx="10287843" cy="520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82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C178-442B-4AE1-F9C3-9C3D321C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C7B8-57AD-3F64-0E0A-E8BB5D0E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Environments &amp; Approvals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80E51-F09E-14C5-244B-4D9E226E4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7" y="849309"/>
            <a:ext cx="6663221" cy="5370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4AA0A0-F119-29DB-C146-12018855F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536" y="2600408"/>
            <a:ext cx="3975463" cy="361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9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D284-CFF4-F79F-2E9B-DE532459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9AA8-7223-6EA7-1E08-1DF788A3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488DA-E71D-8585-393A-813EA5C2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1857155"/>
            <a:ext cx="9478698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21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91E2-37E4-48B5-4E58-023C07EF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FF227D0-085C-3E76-C887-F03FE7FF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89" y="3755605"/>
            <a:ext cx="538531" cy="545480"/>
          </a:xfrm>
          <a:prstGeom prst="rect">
            <a:avLst/>
          </a:prstGeom>
        </p:spPr>
      </p:pic>
      <p:pic>
        <p:nvPicPr>
          <p:cNvPr id="1036" name="Picture 12" descr="Terraform Icon and Logo Collection for Your Projects">
            <a:extLst>
              <a:ext uri="{FF2B5EF4-FFF2-40B4-BE49-F238E27FC236}">
                <a16:creationId xmlns:a16="http://schemas.microsoft.com/office/drawing/2014/main" id="{334805DE-7679-8535-9F02-C56DE50A4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94" y="2152986"/>
            <a:ext cx="560826" cy="56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ED8856-51D7-0580-1118-AE1EBE82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/>
              <a:t>Automation – Big Boss Level</a:t>
            </a:r>
          </a:p>
        </p:txBody>
      </p:sp>
      <p:pic>
        <p:nvPicPr>
          <p:cNvPr id="1028" name="Picture 4" descr="Git · GitHub">
            <a:extLst>
              <a:ext uri="{FF2B5EF4-FFF2-40B4-BE49-F238E27FC236}">
                <a16:creationId xmlns:a16="http://schemas.microsoft.com/office/drawing/2014/main" id="{88D31B4F-1FE4-3D2C-BA05-265D2ACE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04" y="1548880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@actions">
            <a:extLst>
              <a:ext uri="{FF2B5EF4-FFF2-40B4-BE49-F238E27FC236}">
                <a16:creationId xmlns:a16="http://schemas.microsoft.com/office/drawing/2014/main" id="{635F66E1-1460-0FCF-19A5-CCED11506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36" y="1636094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C09C0188-7644-D995-1878-0CD2A5ED60A6}"/>
              </a:ext>
            </a:extLst>
          </p:cNvPr>
          <p:cNvSpPr/>
          <p:nvPr/>
        </p:nvSpPr>
        <p:spPr>
          <a:xfrm>
            <a:off x="2508260" y="1700114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1BDDF74-A0D6-7096-154A-9453D83BECB1}"/>
              </a:ext>
            </a:extLst>
          </p:cNvPr>
          <p:cNvSpPr/>
          <p:nvPr/>
        </p:nvSpPr>
        <p:spPr>
          <a:xfrm>
            <a:off x="5451092" y="1730789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4" name="Picture 10" descr="GitHub Icon Logo PNG Transparent &amp; SVG Vector - Freebie Supply">
            <a:extLst>
              <a:ext uri="{FF2B5EF4-FFF2-40B4-BE49-F238E27FC236}">
                <a16:creationId xmlns:a16="http://schemas.microsoft.com/office/drawing/2014/main" id="{D6A27863-7F8D-9FFB-43A8-F64EC4D81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61" y="4666649"/>
            <a:ext cx="1309964" cy="98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@actions">
            <a:extLst>
              <a:ext uri="{FF2B5EF4-FFF2-40B4-BE49-F238E27FC236}">
                <a16:creationId xmlns:a16="http://schemas.microsoft.com/office/drawing/2014/main" id="{8717FFC0-0043-165B-BE13-9FD60A05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916" y="4833516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79A9F941-1D78-2E6D-1310-C049FE531279}"/>
              </a:ext>
            </a:extLst>
          </p:cNvPr>
          <p:cNvSpPr/>
          <p:nvPr/>
        </p:nvSpPr>
        <p:spPr>
          <a:xfrm>
            <a:off x="2590140" y="4897536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3DD968C-2408-CBE2-45C1-DACE7D5FA032}"/>
              </a:ext>
            </a:extLst>
          </p:cNvPr>
          <p:cNvSpPr/>
          <p:nvPr/>
        </p:nvSpPr>
        <p:spPr>
          <a:xfrm>
            <a:off x="5532972" y="4928211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8B0A168-22D3-B4FB-66D5-10E9584FC5D2}"/>
              </a:ext>
            </a:extLst>
          </p:cNvPr>
          <p:cNvGrpSpPr/>
          <p:nvPr/>
        </p:nvGrpSpPr>
        <p:grpSpPr>
          <a:xfrm>
            <a:off x="7035868" y="1409373"/>
            <a:ext cx="3577741" cy="1111240"/>
            <a:chOff x="7035868" y="1409373"/>
            <a:chExt cx="3577741" cy="111124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83D84721-A0F4-D520-9A36-D10FB6B805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02369" y="1409373"/>
              <a:ext cx="1111240" cy="11112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1A30E1B-C9EB-FEAE-2C67-86566A961D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35868" y="1409373"/>
              <a:ext cx="1111240" cy="111124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6141BEEE-0471-D147-AE91-EEC1D54DBA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91131" y="1409375"/>
              <a:ext cx="1111238" cy="1111238"/>
            </a:xfrm>
            <a:prstGeom prst="rect">
              <a:avLst/>
            </a:prstGeom>
          </p:spPr>
        </p:pic>
      </p:grpSp>
      <p:pic>
        <p:nvPicPr>
          <p:cNvPr id="26" name="Picture 4" descr="Git · GitHub">
            <a:extLst>
              <a:ext uri="{FF2B5EF4-FFF2-40B4-BE49-F238E27FC236}">
                <a16:creationId xmlns:a16="http://schemas.microsoft.com/office/drawing/2014/main" id="{474AC1AE-E7A8-9931-1D1C-5C44AF21A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04" y="3129661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@actions">
            <a:extLst>
              <a:ext uri="{FF2B5EF4-FFF2-40B4-BE49-F238E27FC236}">
                <a16:creationId xmlns:a16="http://schemas.microsoft.com/office/drawing/2014/main" id="{D35C910A-DA89-AF7A-89E9-DE4D1B3B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36" y="3216875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3EC74B68-C24E-BD83-AA70-144497A300F7}"/>
              </a:ext>
            </a:extLst>
          </p:cNvPr>
          <p:cNvSpPr/>
          <p:nvPr/>
        </p:nvSpPr>
        <p:spPr>
          <a:xfrm>
            <a:off x="2508260" y="3280895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059D4D-B476-1867-B088-30D71B714F77}"/>
              </a:ext>
            </a:extLst>
          </p:cNvPr>
          <p:cNvSpPr/>
          <p:nvPr/>
        </p:nvSpPr>
        <p:spPr>
          <a:xfrm>
            <a:off x="5451091" y="3398784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3E8065-60F2-CF49-EB80-6B9117F08C43}"/>
              </a:ext>
            </a:extLst>
          </p:cNvPr>
          <p:cNvGrpSpPr/>
          <p:nvPr/>
        </p:nvGrpSpPr>
        <p:grpSpPr>
          <a:xfrm>
            <a:off x="6887035" y="3016300"/>
            <a:ext cx="1111240" cy="1111292"/>
            <a:chOff x="6887035" y="3016300"/>
            <a:chExt cx="1111240" cy="1111292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B68B30A1-4426-4209-FF06-149D7E77F2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87035" y="3016300"/>
              <a:ext cx="1111240" cy="1111240"/>
            </a:xfrm>
            <a:prstGeom prst="rect">
              <a:avLst/>
            </a:prstGeom>
          </p:spPr>
        </p:pic>
        <p:pic>
          <p:nvPicPr>
            <p:cNvPr id="36" name="Graphic 35" descr="Cat with solid fill">
              <a:extLst>
                <a:ext uri="{FF2B5EF4-FFF2-40B4-BE49-F238E27FC236}">
                  <a16:creationId xmlns:a16="http://schemas.microsoft.com/office/drawing/2014/main" id="{F161218E-B40A-9226-0A2E-17E0A50B60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46280" y="3475597"/>
              <a:ext cx="651995" cy="65199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261BC5-C313-A691-0FA6-C56A9EC33B63}"/>
              </a:ext>
            </a:extLst>
          </p:cNvPr>
          <p:cNvGrpSpPr/>
          <p:nvPr/>
        </p:nvGrpSpPr>
        <p:grpSpPr>
          <a:xfrm>
            <a:off x="6887035" y="4606795"/>
            <a:ext cx="1111240" cy="1111240"/>
            <a:chOff x="6887035" y="4494079"/>
            <a:chExt cx="1111240" cy="111124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44F79A50-0BBD-3016-1A1E-B29F61F7EF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87035" y="4494079"/>
              <a:ext cx="1111240" cy="1111240"/>
            </a:xfrm>
            <a:prstGeom prst="rect">
              <a:avLst/>
            </a:prstGeom>
          </p:spPr>
        </p:pic>
        <p:pic>
          <p:nvPicPr>
            <p:cNvPr id="5" name="Graphic 4" descr="Cat with solid fill">
              <a:extLst>
                <a:ext uri="{FF2B5EF4-FFF2-40B4-BE49-F238E27FC236}">
                  <a16:creationId xmlns:a16="http://schemas.microsoft.com/office/drawing/2014/main" id="{CE72DA73-4383-70DE-D0B7-A8E7CE194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46279" y="4928491"/>
              <a:ext cx="651995" cy="6519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530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8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EE68-2B2D-CBFB-2F6C-2F6A5AAA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D6D41FDE-DF94-A3F1-456E-54172CD2F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89" y="3755605"/>
            <a:ext cx="538531" cy="545480"/>
          </a:xfrm>
          <a:prstGeom prst="rect">
            <a:avLst/>
          </a:prstGeom>
        </p:spPr>
      </p:pic>
      <p:pic>
        <p:nvPicPr>
          <p:cNvPr id="1036" name="Picture 12" descr="Terraform Icon and Logo Collection for Your Projects">
            <a:extLst>
              <a:ext uri="{FF2B5EF4-FFF2-40B4-BE49-F238E27FC236}">
                <a16:creationId xmlns:a16="http://schemas.microsoft.com/office/drawing/2014/main" id="{75860ED8-FC2A-1AFB-4499-26F0DD384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94" y="2152986"/>
            <a:ext cx="560826" cy="56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AE0D56-A4BB-05EE-3D42-AFC69B46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/>
              <a:t>Automation – Big Boss Level</a:t>
            </a:r>
          </a:p>
        </p:txBody>
      </p:sp>
      <p:pic>
        <p:nvPicPr>
          <p:cNvPr id="1028" name="Picture 4" descr="Git · GitHub">
            <a:extLst>
              <a:ext uri="{FF2B5EF4-FFF2-40B4-BE49-F238E27FC236}">
                <a16:creationId xmlns:a16="http://schemas.microsoft.com/office/drawing/2014/main" id="{4250232F-7FA1-B59D-7CE4-237D00272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04" y="1548880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@actions">
            <a:extLst>
              <a:ext uri="{FF2B5EF4-FFF2-40B4-BE49-F238E27FC236}">
                <a16:creationId xmlns:a16="http://schemas.microsoft.com/office/drawing/2014/main" id="{79FC6548-4E7B-E3AA-911B-06C32C584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36" y="1636094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9B72E4B7-2267-F981-E465-696A7B9DF8C4}"/>
              </a:ext>
            </a:extLst>
          </p:cNvPr>
          <p:cNvSpPr/>
          <p:nvPr/>
        </p:nvSpPr>
        <p:spPr>
          <a:xfrm>
            <a:off x="2508260" y="1700114"/>
            <a:ext cx="1111239" cy="520700"/>
          </a:xfrm>
          <a:prstGeom prst="rightArrow">
            <a:avLst/>
          </a:prstGeom>
          <a:solidFill>
            <a:srgbClr val="CBCACA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0F539C2-0F34-69ED-6306-ECA840FCFC85}"/>
              </a:ext>
            </a:extLst>
          </p:cNvPr>
          <p:cNvSpPr/>
          <p:nvPr/>
        </p:nvSpPr>
        <p:spPr>
          <a:xfrm>
            <a:off x="5451092" y="1730789"/>
            <a:ext cx="1111239" cy="520700"/>
          </a:xfrm>
          <a:prstGeom prst="rightArrow">
            <a:avLst/>
          </a:prstGeom>
          <a:solidFill>
            <a:srgbClr val="CBCACA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4" name="Picture 10" descr="GitHub Icon Logo PNG Transparent &amp; SVG Vector - Freebie Supply">
            <a:extLst>
              <a:ext uri="{FF2B5EF4-FFF2-40B4-BE49-F238E27FC236}">
                <a16:creationId xmlns:a16="http://schemas.microsoft.com/office/drawing/2014/main" id="{F6B67690-A982-2CAB-0AD0-507947A8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61" y="4666649"/>
            <a:ext cx="1309964" cy="98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@actions">
            <a:extLst>
              <a:ext uri="{FF2B5EF4-FFF2-40B4-BE49-F238E27FC236}">
                <a16:creationId xmlns:a16="http://schemas.microsoft.com/office/drawing/2014/main" id="{84160EC1-7893-8268-A406-8AD9326F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916" y="4833516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E6FE17BD-56CF-6A99-4FC8-F8F13D1CA83E}"/>
              </a:ext>
            </a:extLst>
          </p:cNvPr>
          <p:cNvSpPr/>
          <p:nvPr/>
        </p:nvSpPr>
        <p:spPr>
          <a:xfrm>
            <a:off x="2590140" y="4897536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58113C2-8562-48B8-99C5-979A44A4A192}"/>
              </a:ext>
            </a:extLst>
          </p:cNvPr>
          <p:cNvSpPr/>
          <p:nvPr/>
        </p:nvSpPr>
        <p:spPr>
          <a:xfrm>
            <a:off x="5532972" y="4928211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893CC61-6541-72D1-033E-58B67A9AE86A}"/>
              </a:ext>
            </a:extLst>
          </p:cNvPr>
          <p:cNvGrpSpPr/>
          <p:nvPr/>
        </p:nvGrpSpPr>
        <p:grpSpPr>
          <a:xfrm>
            <a:off x="7035868" y="1409373"/>
            <a:ext cx="3577741" cy="1111240"/>
            <a:chOff x="7035868" y="1409373"/>
            <a:chExt cx="3577741" cy="111124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C8C9B9-885A-AFC5-44DE-ABAD859F7C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02369" y="1409373"/>
              <a:ext cx="1111240" cy="111124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FAE15B0-0034-221C-463D-770DE7D32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35868" y="1409373"/>
              <a:ext cx="1111240" cy="111124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4B4AA3D2-3BA8-F41B-3BD1-C4E2936EFE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91131" y="1409375"/>
              <a:ext cx="1111238" cy="1111238"/>
            </a:xfrm>
            <a:prstGeom prst="rect">
              <a:avLst/>
            </a:prstGeom>
          </p:spPr>
        </p:pic>
      </p:grpSp>
      <p:pic>
        <p:nvPicPr>
          <p:cNvPr id="26" name="Picture 4" descr="Git · GitHub">
            <a:extLst>
              <a:ext uri="{FF2B5EF4-FFF2-40B4-BE49-F238E27FC236}">
                <a16:creationId xmlns:a16="http://schemas.microsoft.com/office/drawing/2014/main" id="{5BE5BBB5-48C4-B41D-9BF8-A827D018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04" y="3129661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@actions">
            <a:extLst>
              <a:ext uri="{FF2B5EF4-FFF2-40B4-BE49-F238E27FC236}">
                <a16:creationId xmlns:a16="http://schemas.microsoft.com/office/drawing/2014/main" id="{FA803A9E-284F-679D-6379-CF2BC69D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36" y="3216875"/>
            <a:ext cx="884519" cy="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629ADF54-178B-408A-32B3-98A5A02873B0}"/>
              </a:ext>
            </a:extLst>
          </p:cNvPr>
          <p:cNvSpPr/>
          <p:nvPr/>
        </p:nvSpPr>
        <p:spPr>
          <a:xfrm>
            <a:off x="2508260" y="3280895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A146EF46-1787-A518-0216-D63FE5E8458C}"/>
              </a:ext>
            </a:extLst>
          </p:cNvPr>
          <p:cNvSpPr/>
          <p:nvPr/>
        </p:nvSpPr>
        <p:spPr>
          <a:xfrm>
            <a:off x="5451091" y="3398784"/>
            <a:ext cx="1111239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8B6EF7-939D-A152-06B8-C78273AC893E}"/>
              </a:ext>
            </a:extLst>
          </p:cNvPr>
          <p:cNvGrpSpPr/>
          <p:nvPr/>
        </p:nvGrpSpPr>
        <p:grpSpPr>
          <a:xfrm>
            <a:off x="6887035" y="3016300"/>
            <a:ext cx="1111240" cy="1111292"/>
            <a:chOff x="6887035" y="3016300"/>
            <a:chExt cx="1111240" cy="1111292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8C9B727B-0F64-159E-53F9-1FA094F65F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87035" y="3016300"/>
              <a:ext cx="1111240" cy="1111240"/>
            </a:xfrm>
            <a:prstGeom prst="rect">
              <a:avLst/>
            </a:prstGeom>
          </p:spPr>
        </p:pic>
        <p:pic>
          <p:nvPicPr>
            <p:cNvPr id="36" name="Graphic 35" descr="Cat with solid fill">
              <a:extLst>
                <a:ext uri="{FF2B5EF4-FFF2-40B4-BE49-F238E27FC236}">
                  <a16:creationId xmlns:a16="http://schemas.microsoft.com/office/drawing/2014/main" id="{95AC44AA-76ED-3E3F-0BE2-8E11727599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46280" y="3475597"/>
              <a:ext cx="651995" cy="65199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5DC69AE-86A0-D242-3E3E-3E8BFE7FBD70}"/>
              </a:ext>
            </a:extLst>
          </p:cNvPr>
          <p:cNvGrpSpPr/>
          <p:nvPr/>
        </p:nvGrpSpPr>
        <p:grpSpPr>
          <a:xfrm>
            <a:off x="6887035" y="4606795"/>
            <a:ext cx="1111240" cy="1111240"/>
            <a:chOff x="6887035" y="4494079"/>
            <a:chExt cx="1111240" cy="111124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465AD58E-FFAD-486C-33EB-F8BE3B13FD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87035" y="4494079"/>
              <a:ext cx="1111240" cy="1111240"/>
            </a:xfrm>
            <a:prstGeom prst="rect">
              <a:avLst/>
            </a:prstGeom>
          </p:spPr>
        </p:pic>
        <p:pic>
          <p:nvPicPr>
            <p:cNvPr id="5" name="Graphic 4" descr="Cat with solid fill">
              <a:extLst>
                <a:ext uri="{FF2B5EF4-FFF2-40B4-BE49-F238E27FC236}">
                  <a16:creationId xmlns:a16="http://schemas.microsoft.com/office/drawing/2014/main" id="{58FD7A45-FDE3-4E05-12E4-764F9132EB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46279" y="4928491"/>
              <a:ext cx="651995" cy="6519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899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2263-0412-436C-BE7A-EF75789E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F1335-4328-4E58-94A0-BDBC5F30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Demo Files available here: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github.com/jpomfret/dbatools-githubactions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References: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https://docs.github.com/en/actions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https://github.com/marketplace?type=actions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711F2-58F2-E725-3C6F-A64F3F74D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180" y="1289167"/>
            <a:ext cx="2301240" cy="2301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C67235-6D11-0AD1-EDB9-69BA4E4F3E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180" y="3763744"/>
            <a:ext cx="2301240" cy="23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10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ACEE-D10C-0952-C392-3DA5431A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F666-52C5-CAEB-9B08-C918B761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&amp; Feedback Please!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06DA-B970-8F56-40E3-EAB14B75A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6500" dirty="0"/>
              <a:t>Jess Pomfret</a:t>
            </a:r>
            <a:endParaRPr lang="en-US" dirty="0"/>
          </a:p>
          <a:p>
            <a:endParaRPr lang="en-US" sz="1700" b="1" dirty="0"/>
          </a:p>
          <a:p>
            <a:r>
              <a:rPr lang="en-US" dirty="0">
                <a:hlinkClick r:id="rId3"/>
              </a:rPr>
              <a:t>jpomfret7@gmail.com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jesspomfret.com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linkedin.com/in/</a:t>
            </a:r>
            <a:r>
              <a:rPr lang="en-US" dirty="0" err="1"/>
              <a:t>jpomfret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jpomfret</a:t>
            </a:r>
            <a:endParaRPr lang="en-US" dirty="0"/>
          </a:p>
          <a:p>
            <a:endParaRPr lang="en-US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D617A0-C2C2-A930-299E-E317DE9A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4" y="4221290"/>
            <a:ext cx="818650" cy="81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logo - minimal Octocat">
            <a:extLst>
              <a:ext uri="{FF2B5EF4-FFF2-40B4-BE49-F238E27FC236}">
                <a16:creationId xmlns:a16="http://schemas.microsoft.com/office/drawing/2014/main" id="{D938290E-2487-5039-DDA1-E27A9A85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7" y="5225141"/>
            <a:ext cx="818650" cy="81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>
            <a:extLst>
              <a:ext uri="{FF2B5EF4-FFF2-40B4-BE49-F238E27FC236}">
                <a16:creationId xmlns:a16="http://schemas.microsoft.com/office/drawing/2014/main" id="{02BFF943-3657-0F1B-528E-B4D98B996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E5BDB-D440-B690-9252-B20263D11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34" y="3084267"/>
            <a:ext cx="818650" cy="818650"/>
          </a:xfrm>
          <a:prstGeom prst="rect">
            <a:avLst/>
          </a:prstGeom>
        </p:spPr>
      </p:pic>
      <p:pic>
        <p:nvPicPr>
          <p:cNvPr id="1036" name="Picture 12" descr="Email Logo Images – Browse 146,199 Stock Photos, Vectors ...">
            <a:extLst>
              <a:ext uri="{FF2B5EF4-FFF2-40B4-BE49-F238E27FC236}">
                <a16:creationId xmlns:a16="http://schemas.microsoft.com/office/drawing/2014/main" id="{6307082D-08ED-9119-7819-625C121C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53" y="1947244"/>
            <a:ext cx="884731" cy="88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B7596FA7-361B-2016-3DEE-DB23E39CC1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416" y="1947244"/>
            <a:ext cx="4291584" cy="42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85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F8DE-A1B6-4914-A23E-D3683274E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998" y="1661160"/>
            <a:ext cx="11266004" cy="2839371"/>
          </a:xfrm>
        </p:spPr>
        <p:txBody>
          <a:bodyPr>
            <a:normAutofit fontScale="90000"/>
          </a:bodyPr>
          <a:lstStyle/>
          <a:p>
            <a:r>
              <a:rPr lang="en-GB" dirty="0"/>
              <a:t>SQL Server Automation with PowerShell, </a:t>
            </a:r>
            <a:r>
              <a:rPr lang="en-GB" dirty="0" err="1"/>
              <a:t>dbatools</a:t>
            </a:r>
            <a:r>
              <a:rPr lang="en-GB" dirty="0"/>
              <a:t> and GitHub Actions</a:t>
            </a:r>
            <a:endParaRPr lang="en-US" dirty="0"/>
          </a:p>
        </p:txBody>
      </p:sp>
      <p:pic>
        <p:nvPicPr>
          <p:cNvPr id="6" name="Picture 5" descr="dbatools">
            <a:extLst>
              <a:ext uri="{FF2B5EF4-FFF2-40B4-BE49-F238E27FC236}">
                <a16:creationId xmlns:a16="http://schemas.microsoft.com/office/drawing/2014/main" id="{8C6B9BF0-CCF3-43FC-9804-3BEE56C9D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29" y="441961"/>
            <a:ext cx="1386142" cy="13861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90E0D2-7CFB-50A7-31F8-489C00DE0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0" y="3733800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B26E22-9AFF-7485-0780-E69C6A264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908" y="4498128"/>
            <a:ext cx="3828184" cy="244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19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3F27-EF55-4172-ACEE-8D340D50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plan?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1764-D9F6-4435-B0F7-9C4344D10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Quick Refresh of </a:t>
            </a:r>
            <a:r>
              <a:rPr lang="en-US" dirty="0" err="1"/>
              <a:t>dbatools</a:t>
            </a:r>
            <a:endParaRPr lang="en-US" dirty="0"/>
          </a:p>
          <a:p>
            <a:r>
              <a:rPr lang="en-US" dirty="0"/>
              <a:t>GitHub Actions</a:t>
            </a:r>
          </a:p>
          <a:p>
            <a:r>
              <a:rPr lang="en-US" dirty="0"/>
              <a:t>Automation Project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Understanding GitHub Actions: Core Concepts and Fundamentals">
            <a:extLst>
              <a:ext uri="{FF2B5EF4-FFF2-40B4-BE49-F238E27FC236}">
                <a16:creationId xmlns:a16="http://schemas.microsoft.com/office/drawing/2014/main" id="{19A614FD-E9A4-8CFF-0F0F-945718C6C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8" t="5925" r="20533" b="3142"/>
          <a:stretch>
            <a:fillRect/>
          </a:stretch>
        </p:blipFill>
        <p:spPr bwMode="auto">
          <a:xfrm>
            <a:off x="5085156" y="4220908"/>
            <a:ext cx="2389517" cy="178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F1B7D7-A418-199C-5955-721AE3F7C98C}"/>
              </a:ext>
            </a:extLst>
          </p:cNvPr>
          <p:cNvGrpSpPr/>
          <p:nvPr/>
        </p:nvGrpSpPr>
        <p:grpSpPr>
          <a:xfrm>
            <a:off x="838199" y="4337872"/>
            <a:ext cx="3718969" cy="1550505"/>
            <a:chOff x="4652983" y="4340135"/>
            <a:chExt cx="3718969" cy="1550505"/>
          </a:xfrm>
        </p:grpSpPr>
        <p:pic>
          <p:nvPicPr>
            <p:cNvPr id="7" name="Picture 2" descr="dbatools">
              <a:extLst>
                <a:ext uri="{FF2B5EF4-FFF2-40B4-BE49-F238E27FC236}">
                  <a16:creationId xmlns:a16="http://schemas.microsoft.com/office/drawing/2014/main" id="{E5BC4C6E-8AE8-00C3-B823-6194FD003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827" y="4810587"/>
              <a:ext cx="2524125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PowerShell Gallery | Home">
              <a:extLst>
                <a:ext uri="{FF2B5EF4-FFF2-40B4-BE49-F238E27FC236}">
                  <a16:creationId xmlns:a16="http://schemas.microsoft.com/office/drawing/2014/main" id="{DBEAAE6B-5A2B-CA3F-A9D0-242D5F4ED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83" y="4340135"/>
              <a:ext cx="945430" cy="1550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E54568-FF2E-7373-3735-83202B7432BB}"/>
              </a:ext>
            </a:extLst>
          </p:cNvPr>
          <p:cNvGrpSpPr/>
          <p:nvPr/>
        </p:nvGrpSpPr>
        <p:grpSpPr>
          <a:xfrm>
            <a:off x="9353006" y="4337872"/>
            <a:ext cx="1277577" cy="1330898"/>
            <a:chOff x="6887035" y="3016300"/>
            <a:chExt cx="1111240" cy="111129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A811337-9CB3-F17A-EA46-FF545FBEDA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87035" y="3016300"/>
              <a:ext cx="1111240" cy="1111240"/>
            </a:xfrm>
            <a:prstGeom prst="rect">
              <a:avLst/>
            </a:prstGeom>
          </p:spPr>
        </p:pic>
        <p:pic>
          <p:nvPicPr>
            <p:cNvPr id="11" name="Graphic 10" descr="Cat with solid fill">
              <a:extLst>
                <a:ext uri="{FF2B5EF4-FFF2-40B4-BE49-F238E27FC236}">
                  <a16:creationId xmlns:a16="http://schemas.microsoft.com/office/drawing/2014/main" id="{8A4F6169-0EDA-DB07-41B6-0C042BC5E1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6280" y="3475597"/>
              <a:ext cx="651995" cy="6519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94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63327E-0692-8D30-E637-36387DA0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151-494A-8CAC-4AD0-3C6461EC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US"/>
              <a:t>Install a Self-Hosted Runner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B0E8B-DF25-F347-B239-0D06553A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27" y="1155723"/>
            <a:ext cx="10466631" cy="50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00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02185-FAB4-5B95-2463-80D4D077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663" y="0"/>
            <a:ext cx="6046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57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2D20B-C59E-B168-3871-E243DB61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999786"/>
            <a:ext cx="1136491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6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ess Pomfret">
      <a:dk1>
        <a:srgbClr val="191919"/>
      </a:dk1>
      <a:lt1>
        <a:sysClr val="window" lastClr="FFFFFF"/>
      </a:lt1>
      <a:dk2>
        <a:srgbClr val="032E35"/>
      </a:dk2>
      <a:lt2>
        <a:srgbClr val="E7E6E6"/>
      </a:lt2>
      <a:accent1>
        <a:srgbClr val="0BABC4"/>
      </a:accent1>
      <a:accent2>
        <a:srgbClr val="F18F01"/>
      </a:accent2>
      <a:accent3>
        <a:srgbClr val="A5A5A5"/>
      </a:accent3>
      <a:accent4>
        <a:srgbClr val="A6D0D8"/>
      </a:accent4>
      <a:accent5>
        <a:srgbClr val="065F6D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ssPomfret.potx" id="{47E2BDE3-048A-4A0F-B2D4-31338A3E2199}" vid="{95A6CAB1-C75B-4AC1-A6FA-0FD986B8EA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1086</Words>
  <Application>Microsoft Office PowerPoint</Application>
  <PresentationFormat>Widescreen</PresentationFormat>
  <Paragraphs>224</Paragraphs>
  <Slides>36</Slides>
  <Notes>30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Consolas</vt:lpstr>
      <vt:lpstr>IBM Plex Sans</vt:lpstr>
      <vt:lpstr>Kanit Light</vt:lpstr>
      <vt:lpstr>Kanit SemiBold</vt:lpstr>
      <vt:lpstr>Roboto</vt:lpstr>
      <vt:lpstr>Wingdings</vt:lpstr>
      <vt:lpstr>Office Theme</vt:lpstr>
      <vt:lpstr>PowerPoint Presentation</vt:lpstr>
      <vt:lpstr>Jess Pomfret (She/Her)</vt:lpstr>
      <vt:lpstr>What’s the plan?</vt:lpstr>
      <vt:lpstr>dbatools</vt:lpstr>
      <vt:lpstr>It’s like a command line  SQL Server Management Studio  If you can do it in SSMS – you can do it in dbatools*  *mostly</vt:lpstr>
      <vt:lpstr>Get Database Info for User Database on Sql1</vt:lpstr>
      <vt:lpstr>Get Database Info for User Database on Sql1</vt:lpstr>
      <vt:lpstr>Backup a database on Sql1</vt:lpstr>
      <vt:lpstr>Get SQL Agent jobs on Sql1</vt:lpstr>
      <vt:lpstr>Get Database Name and AutoShrink status on Sql1, Sql2 and Sql3</vt:lpstr>
      <vt:lpstr>Get Database Name and AutoShrink status on Sql1, Sql2 and Sql3</vt:lpstr>
      <vt:lpstr>PowerPoint Presentation</vt:lpstr>
      <vt:lpstr>Demo Time – dbatools Magic</vt:lpstr>
      <vt:lpstr>GitHub Actions</vt:lpstr>
      <vt:lpstr>GitHub Actions</vt:lpstr>
      <vt:lpstr>Azure DevOps Pipelines</vt:lpstr>
      <vt:lpstr>GitHub Actions use cases</vt:lpstr>
      <vt:lpstr>PowerPoint Presentation</vt:lpstr>
      <vt:lpstr>Demo Time – Our first GitHub Action!</vt:lpstr>
      <vt:lpstr>GitHub Actions Next Level</vt:lpstr>
      <vt:lpstr>GitHub Actions - Runners</vt:lpstr>
      <vt:lpstr>Hierarchy</vt:lpstr>
      <vt:lpstr>Hierarchy</vt:lpstr>
      <vt:lpstr>Variables &amp; Secrets</vt:lpstr>
      <vt:lpstr>Environments &amp; Approvals</vt:lpstr>
      <vt:lpstr>Environments &amp; Approvals</vt:lpstr>
      <vt:lpstr>PowerPoint Presentation</vt:lpstr>
      <vt:lpstr>Automation – Big Boss Level</vt:lpstr>
      <vt:lpstr>Automation – Big Boss Level</vt:lpstr>
      <vt:lpstr>Demo Time</vt:lpstr>
      <vt:lpstr>Questions &amp; Feedback Please! </vt:lpstr>
      <vt:lpstr>SQL Server Automation with PowerShell, dbatools and GitHub Actions</vt:lpstr>
      <vt:lpstr>What’s the plan?</vt:lpstr>
      <vt:lpstr>Install a Self-Hosted Runner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Andy Mallon</dc:creator>
  <cp:lastModifiedBy>Jess Pomfret</cp:lastModifiedBy>
  <cp:revision>36</cp:revision>
  <cp:lastPrinted>2026-04-13T15:31:53Z</cp:lastPrinted>
  <dcterms:created xsi:type="dcterms:W3CDTF">2019-02-14T03:37:16Z</dcterms:created>
  <dcterms:modified xsi:type="dcterms:W3CDTF">2026-04-22T15:19:11Z</dcterms:modified>
</cp:coreProperties>
</file>